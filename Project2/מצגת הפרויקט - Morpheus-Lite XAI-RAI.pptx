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8019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50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5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418320" y="-1371600"/>
            <a:ext cx="4114800" cy="4114800"/>
          </a:xfrm>
          <a:prstGeom prst="ellipse">
            <a:avLst/>
          </a:prstGeom>
          <a:solidFill>
            <a:srgbClr val="0F6E56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607040" y="4754880"/>
            <a:ext cx="2926080" cy="2926080"/>
          </a:xfrm>
          <a:prstGeom prst="ellipse">
            <a:avLst/>
          </a:prstGeom>
          <a:solidFill>
            <a:srgbClr val="1D9E75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&amp; RAI Comparative Analysis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vs. Autoencoder on NSL-KDD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השוואת שני מודלי גילוי אנומליות דרך מודולי XAI/RAI קיימים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4434840"/>
            <a:ext cx="4572000" cy="0"/>
          </a:xfrm>
          <a:prstGeom prst="line">
            <a:avLst/>
          </a:prstGeom>
          <a:noFill/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4663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מוגש על ידי: 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לוטם ___  •  בועז ___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5074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בהנחיית: 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ד"ר ___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המכון הטכנולוגי חולון  •  אבטחת סייבר ובינה מלאכותית  •  שנה"ל תשפ"ו, סמסטר א׳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מבוא — 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רקע ובעיה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64008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מרכזי SOC מודרניים נשענים על מודלים סטטיסטיים לגילוי אנומליות בתעבורת רשת ובאירועי מערכת.</a:t>
            </a:r>
            <a:endParaRPr lang="en-US" sz="170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שילוב AI בהחלטה תפעולית — בעיקר כשהתוצאה עשויה להוביל להכלה אוטומטית — מחייב שקיפות (XAI) ואחריותיות (RAI), לא רק דיוק.</a:t>
            </a:r>
            <a:endParaRPr lang="en-US" sz="170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מנתח אנושי אינו יכול לבסס אמון בהתראה מבלי להבין אילו features הובילו למסקנת המודל.</a:t>
            </a:r>
            <a:endParaRPr lang="en-US" sz="170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 עשוי להציג ביצועים גבוהים בממוצע, תוך שהוא סובל מהטיה חדה בתת-אוכלוסיות מסוימות.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406640" y="164592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06640" y="1828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589520" y="23317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 — למה המודל החליט מה שהחליט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06640" y="370332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FAECE7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06640" y="38862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589520" y="43891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AI — האם מותר לפעול על סמך ההתראה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Morpheus-Lite XAI/RAI Comparison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1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שאלת המחקר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1033272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80160" y="201168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כאשר מודולי ה-XAI/RAI מקבלים רק את ציון האנומליה הגולמי של האירוע, קשה לייחס הבדלים בפלט שלהם למודל עצמו.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280160" y="3291840"/>
            <a:ext cx="9601200" cy="0"/>
          </a:xfrm>
          <a:prstGeom prst="line">
            <a:avLst/>
          </a:prstGeom>
          <a:noFill/>
          <a:ln w="25400">
            <a:solidFill>
              <a:srgbClr val="E1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80160" y="352044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הפתרון: להעשיר את המידע שמוזן למודולי ה-XAI/RAI ב-evidence שכבר מחושב בשלב החיזוי — כך שהבדלים בפלט יהיו ניתנים לייחוס ישיר לבחירת המודל, ולא לרעש הנובע ממידע חסר.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Morpheus-Lite XAI/RAI Comparison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מטרות הפרויקט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22960" cy="822960"/>
          </a:xfrm>
          <a:prstGeom prst="roundRect">
            <a:avLst>
              <a:gd name="adj" fmla="val 16667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0" y="137160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לאמן שני מודלים לגילוי אנומליות — Isolation Forest ו-Autoencoder — על NSL-KDD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822960" cy="822960"/>
          </a:xfrm>
          <a:prstGeom prst="roundRect">
            <a:avLst>
              <a:gd name="adj" fmla="val 16667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0" y="251460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להריץ את שני המודלים על נתונים חדשים ולהפיק ציון אנומליה וסיווג לכל אירוע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822960" cy="822960"/>
          </a:xfrm>
          <a:prstGeom prst="roundRect">
            <a:avLst>
              <a:gd name="adj" fmla="val 16667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45920" y="365760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להזין את התוצאות למודולי XAI/RAI קיימים תחת אותה מתודולוגיה, כדי שההשוואה תהיה הוגנת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4800600"/>
            <a:ext cx="822960" cy="822960"/>
          </a:xfrm>
          <a:prstGeom prst="roundRect">
            <a:avLst>
              <a:gd name="adj" fmla="val 16667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4800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45920" y="480060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להשוות בין תוצאות שני המודלים ב-4 תרחישי הסכמה/אי-הסכמה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Morpheus-Lite XAI/RAI Comparison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רקע תיאורטי — שני המודלים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120640" cy="4480560"/>
          </a:xfrm>
          <a:prstGeom prst="roundRect">
            <a:avLst>
              <a:gd name="adj" fmla="val 2041"/>
            </a:avLst>
          </a:prstGeom>
          <a:solidFill>
            <a:srgbClr val="E1F5EE"/>
          </a:solidFill>
          <a:ln w="190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4805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אלגוריתם מבוסס-עצים המבודד נקודות חריגות בפחות פיצולים אקראיים מנקודות רגילות.</a:t>
            </a:r>
            <a:endParaRPr lang="en-US" sz="150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ציון האנומליה = מספר הפיצולים הממוצע הנדרש לבידוד הדגימה.</a:t>
            </a:r>
            <a:endParaRPr lang="en-US" sz="150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מאומן אך ורק על דגימות נורמליות (train-on-normal-only).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92240" y="1234440"/>
            <a:ext cx="5120640" cy="4480560"/>
          </a:xfrm>
          <a:prstGeom prst="roundRect">
            <a:avLst>
              <a:gd name="adj" fmla="val 2041"/>
            </a:avLst>
          </a:prstGeom>
          <a:solidFill>
            <a:srgbClr val="FAECE7"/>
          </a:solidFill>
          <a:ln w="1905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0" y="14630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12280" y="2194560"/>
            <a:ext cx="44805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רשת נוירונים המאומנת לשחזר את הקלט שלה עצמה דרך צוואר בקבוק בממד מופחת.</a:t>
            </a:r>
            <a:endParaRPr lang="en-US" sz="150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ציון האנומליה = שגיאת השחזור (Reconstruction Error, MSE).</a:t>
            </a:r>
            <a:endParaRPr lang="en-US" sz="150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שכבות חבויות: 64, 32, 16 — PyTorch, מאומן על נתונים נורמליים בלבד.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Morpheus-Lite XAI/RAI Comparison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רקע תיאורטי — XAI ו-RAI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המודלים מוזנים לאותם מודולים קיימים — אך כל אחד מפיק evidence שונה באופיו: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926080" y="18288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TreeExplainer — ערכי Shapley מדויקים (לא קירוב)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D85A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26080" y="28803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שגיאת שחזור ברמת-feature — (x−reconstruction)²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069080"/>
            <a:ext cx="11064240" cy="0"/>
          </a:xfrm>
          <a:prstGeom prst="line">
            <a:avLst/>
          </a:prstGeom>
          <a:noFill/>
          <a:ln w="19050">
            <a:solidFill>
              <a:srgbClr val="F1E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4297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מדדי RAI — רשומת אמינות גלובלית של המודל (לא ציון אירוע בודד)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48640" y="484632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/ Recall / F1 — ביצועי סיווג כלליים</a:t>
            </a:r>
            <a:endParaRPr lang="en-US" sz="150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 Rate (FPR) — שיעור אזעקות שווא</a:t>
            </a:r>
            <a:endParaRPr lang="en-US" sz="150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 Gap — פער ה-FPR המרבי בין תתי-קבוצות protocol_type (proxy attribute, לא תכונה דמוגרפית)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Morpheus-Lite XAI/RAI Comparison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הפייפליין הניסיוני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מחקר עצמאי (offline) — ללא כל תלות בפייפליין SOC חי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008022" cy="1554480"/>
          </a:xfrm>
          <a:prstGeom prst="roundRect">
            <a:avLst>
              <a:gd name="adj" fmla="val 4706"/>
            </a:avLst>
          </a:prstGeom>
          <a:solidFill>
            <a:srgbClr val="F1EFE8"/>
          </a:solidFill>
          <a:ln w="15875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2359152"/>
            <a:ext cx="18617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NSL-KDD dataset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2971800"/>
            <a:ext cx="186171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intrusion data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 rot="5400000">
            <a:off x="2602382" y="2889504"/>
            <a:ext cx="164592" cy="164592"/>
          </a:xfrm>
          <a:prstGeom prst="triangl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812694" y="2194560"/>
            <a:ext cx="2008022" cy="1554480"/>
          </a:xfrm>
          <a:prstGeom prst="roundRect">
            <a:avLst>
              <a:gd name="adj" fmla="val 4706"/>
            </a:avLst>
          </a:prstGeom>
          <a:solidFill>
            <a:srgbClr val="E1F5EE"/>
          </a:solidFill>
          <a:ln w="15875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85846" y="2359152"/>
            <a:ext cx="18617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2 models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85846" y="2971800"/>
            <a:ext cx="186171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&amp; Autoencoder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 rot="5400000">
            <a:off x="4866437" y="2889504"/>
            <a:ext cx="164592" cy="164592"/>
          </a:xfrm>
          <a:prstGeom prst="triangl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76749" y="2194560"/>
            <a:ext cx="2008022" cy="1554480"/>
          </a:xfrm>
          <a:prstGeom prst="roundRect">
            <a:avLst>
              <a:gd name="adj" fmla="val 4706"/>
            </a:avLst>
          </a:prstGeom>
          <a:solidFill>
            <a:srgbClr val="F1EFE8"/>
          </a:solidFill>
          <a:ln w="15875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49901" y="2359152"/>
            <a:ext cx="18617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on new data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49901" y="2971800"/>
            <a:ext cx="186171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scores independently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 rot="5400000">
            <a:off x="7130491" y="2889504"/>
            <a:ext cx="164592" cy="164592"/>
          </a:xfrm>
          <a:prstGeom prst="triangl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40803" y="2194560"/>
            <a:ext cx="2008022" cy="1554480"/>
          </a:xfrm>
          <a:prstGeom prst="roundRect">
            <a:avLst>
              <a:gd name="adj" fmla="val 4706"/>
            </a:avLst>
          </a:prstGeom>
          <a:solidFill>
            <a:srgbClr val="FAECE7"/>
          </a:solidFill>
          <a:ln w="15875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13955" y="2359152"/>
            <a:ext cx="18617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XAI + RAI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13955" y="2971800"/>
            <a:ext cx="186171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&amp; evaluate each model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 rot="5400000">
            <a:off x="9394546" y="2889504"/>
            <a:ext cx="164592" cy="164592"/>
          </a:xfrm>
          <a:prstGeom prst="triangl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604858" y="2194560"/>
            <a:ext cx="2008022" cy="1554480"/>
          </a:xfrm>
          <a:prstGeom prst="roundRect">
            <a:avLst>
              <a:gd name="adj" fmla="val 4706"/>
            </a:avLst>
          </a:prstGeom>
          <a:solidFill>
            <a:srgbClr val="085041"/>
          </a:solidFill>
          <a:ln w="15875">
            <a:solidFill>
              <a:srgbClr val="085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678010" y="2359152"/>
            <a:ext cx="18617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&amp; results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78010" y="2971800"/>
            <a:ext cx="186171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vs Autoencoder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2976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2960" y="42976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מחקר עצמאי (offline) — אינו משתמש בפייפליין ה-SOC החי (Kafka / Detector / Orchestrator). מודולי ה-XAI וה-RAI קיימים בקוד המחקר ומיושמים באותו אופן על שני המודלים.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Morpheus-Lite XAI/RAI Comparison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שיטת המחקר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NSL-KDD — מערך תקן לגילוי חדירה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 features (38 מספריים + one-hot ל-protocol_type/service/flag). פיצול 70/30 stratified, seed=42. שני המודלים מאומנים על דגימות נורמליות בלבד.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64240" cy="3291840"/>
        </p:xfrm>
        <a:graphic>
          <a:graphicData uri="http://schemas.openxmlformats.org/drawingml/2006/table">
            <a:tbl>
              <a:tblPr/>
              <a:tblGrid>
                <a:gridCol w="685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2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פרמטר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ערך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Isolation Forest — n_estimators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seed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size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Autoencoder — hidden dims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(64, 32, 16)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Autoencoder — epochs / batch / LR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/ 256 / 1e-3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סף סיווג (threshold)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נגזר מפריור שיעור האנומליה בסט הבדיקה — לא best-F1 search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Morpheus-Lite XAI/RAI Comparison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מימוש — Cross-Model Signal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60350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אירוע מייצר שני payloads — אחד לכל מודל — עם evidence עצמאי (SHAP / reconstruction error).</a:t>
            </a:r>
            <a:endParaRPr lang="en-US" sz="150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"אות צולב" (cross_model_signal) — מילון זהה המצורף לשני ה-payloads, ומכיל את ציון וסיווג שני המודלים גם יחד.</a:t>
            </a:r>
            <a:endParaRPr lang="en-US" sz="150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כך התראת IF "רואה" גם מה חשב Autoencoder על אותו אירוע, ולהפך — מבלי לשנות את פונקציות החילוץ המקוריות.</a:t>
            </a:r>
            <a:endParaRPr lang="en-US" sz="150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מדיניות RAI קוראת רק את רשומת האמינות הגלובלית של המודל — לעולם לא ציון אירוע בודד.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0" y="1188720"/>
            <a:ext cx="4754880" cy="4206240"/>
          </a:xfrm>
          <a:prstGeom prst="roundRect">
            <a:avLst>
              <a:gd name="adj" fmla="val 1739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086600" y="1371600"/>
            <a:ext cx="4297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CFE8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CFE8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"triggering_model": "Isolation_Forest",</a:t>
            </a:r>
            <a:endParaRPr lang="en-US" sz="11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CFE8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"anomaly_score": 0.177,</a:t>
            </a:r>
            <a:endParaRPr lang="en-US" sz="11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CFE8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"predicted_class": "anomaly",</a:t>
            </a:r>
            <a:endParaRPr lang="en-US" sz="11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CFE8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"xai_evidence": {"...": "top-3"},</a:t>
            </a:r>
            <a:endParaRPr lang="en-US" sz="11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CFE8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"rai_metadata": {"fpr": 0.091, ...},</a:t>
            </a:r>
            <a:endParaRPr lang="en-US" sz="11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CFE8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"cross_model_signal": {</a:t>
            </a:r>
            <a:endParaRPr lang="en-US" sz="11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CFE8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"isolation_forest_anomaly_score": 0.177,</a:t>
            </a:r>
            <a:endParaRPr lang="en-US" sz="11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CFE8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"autoencoder_reconstruction_error": 0.064,</a:t>
            </a:r>
            <a:endParaRPr lang="en-US" sz="11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CFE8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"autoencoder_predicted_class": "anomaly"</a:t>
            </a:r>
            <a:endParaRPr lang="en-US" sz="11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CFE8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CFE8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Morpheus-Lite XAI/RAI Comparison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תוצאות — מדדי ביצועים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128016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Fairness 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 Forest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Autoencoder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Image 0" descr="/home/claude/proj/poster_charts/metrics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697480"/>
            <a:ext cx="9601200" cy="3794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Morpheus-Lite XAI/RAI Comparison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תוצאות — מקור פער ההוגנות</a:t>
            </a:r>
            <a:endParaRPr lang="en-US" sz="1600" dirty="0"/>
          </a:p>
        </p:txBody>
      </p:sp>
      <p:pic>
        <p:nvPicPr>
          <p:cNvPr id="4" name="Image 0" descr="/home/claude/proj/poster_charts/if_fairness_subgro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603504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66560" y="155448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ל-Isolation Forest פער הוגנות גבוה (47.6%) הנובע מ-FPR חד בתעבורת ICMP (54.9%) לעומת TCP (7.3%).</a:t>
            </a:r>
            <a:endParaRPr lang="en-US" sz="160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כתוצאה מכך, כל התראת IF — ללא תלות בציון הספציפי — נחסמת מהכלה אוטומטית ומועברת לאישור אנושי.</a:t>
            </a:r>
            <a:endParaRPr lang="en-US" sz="160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Autoencoder עומד בסף ההוגנות (7.2%) ולכן זכאי, כאשר מתאים, להכלה אוטומטית.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Morpheus-Lite XAI/RAI Comparison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תוצאות — 4 תרחישים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20116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Autoencoder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— הסכמה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 — Human approval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 — Auto-contained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AE מותר, IF חסום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— IF בלבד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 — Human approval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— no 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אי-הסכמה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— AE בלבד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— no 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 — Auto-contained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AE מזהה הסלמת הרשאות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 — הסכמה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אין פעולה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6576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ממצא: הבדל ה-Fairness Gap בין המודלים (47.6% מול 7.2%) קובע בפועל אילו התראות זוכות להכלה אוטומטית — לא רק דיוק הגילוי.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Morpheus-Lite XAI/RAI Comparison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50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דיון — הממצא המרכזי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בחירת מודל הגילוי היא גם החלטת ממשל — לא רק החלטת דיוק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09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47.6%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 Gap — Isolation Forest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0" y="23774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389120" y="33832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 Gap — Autoencoder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55280" y="23774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×6.6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7955280" y="33832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 כמה שונה הפער בין המודלים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57200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למרות ביצועי סיווג כמעט זהים (F1 ≈ 0.90), Autoencoder זכאי להכלה אוטומטית ואילו כל התראת Isolation Forest נחסמת ודורשת אישור אנושי — עובדה שלא הייתה נגלית ממדד ביצועים כללי אחד בלבד.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Morpheus-Lite XAI/RAI Comparison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מסקנות והמשך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מסקנות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5394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המודלים אומנו על NSL-KDD והוזנו למודולי XAI/RAI קיימים תחת מתודולוגיה אחידה.</a:t>
            </a:r>
            <a:endParaRPr lang="en-US" sz="140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שרשרת NSL-KDD → אימון → חיזוי → XAI/RAI → השוואה מומשה במלואה, כולל cross-model signal ו-SHAP ל-Isolation Forest.</a:t>
            </a:r>
            <a:endParaRPr lang="en-US" sz="140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פער ההוגנות שונה משמעותית בין המודלים וקובע את יכולת ההכלה האוטומטית של כל אחד.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09360" y="11430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4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המשך פיתוח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09360" y="1645920"/>
            <a:ext cx="5394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חיווט robustness_report ו-transparency_report לתוך המידע המוזן למודולים.</a:t>
            </a:r>
            <a:endParaRPr lang="en-US" sz="140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הרחבה למערך Credit Card Fraud לבדיקת עקביות הממצא.</a:t>
            </a:r>
            <a:endParaRPr lang="en-US" sz="140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בדיקת רגישות לסף מדיניות ה-RAI (כיום 10%).</a:t>
            </a:r>
            <a:endParaRPr lang="en-US" sz="1400" dirty="0"/>
          </a:p>
          <a:p>
            <a:pPr marL="228600" indent="-228600" algn="r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בחינת מסלול חיבור עתידי לפייפליין SOC חי, תוך שמירה על ההפרדה הנוכחית.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Morpheus-Lite XAI/RAI Comparison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50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0F6E56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4688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תודה!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שאלות?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research/xai_rai_comparison/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1239</Words>
  <Application>Microsoft Office PowerPoint</Application>
  <PresentationFormat>Widescreen</PresentationFormat>
  <Paragraphs>202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Lotem Kimchi</cp:lastModifiedBy>
  <cp:revision>1</cp:revision>
  <dcterms:created xsi:type="dcterms:W3CDTF">2026-09-14T14:29:43Z</dcterms:created>
  <dcterms:modified xsi:type="dcterms:W3CDTF">2026-09-14T15:00:36Z</dcterms:modified>
</cp:coreProperties>
</file>