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5F80E-8855-489E-B195-A7BC17B352E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1143000"/>
            <a:ext cx="215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C06BE-A91D-4502-93DE-C8BABA6FB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3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C06BE-A91D-4502-93DE-C8BABA6FB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0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622264"/>
              </p:ext>
            </p:extLst>
          </p:nvPr>
        </p:nvGraphicFramePr>
        <p:xfrm>
          <a:off x="818147" y="365760"/>
          <a:ext cx="23509706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2452878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אבטחת סייבר ובינה מלאכותית</a:t>
                      </a:r>
                      <a:endParaRPr lang="en-GB" sz="4000" dirty="0"/>
                    </a:p>
                    <a:p>
                      <a:pPr algn="ctr" rtl="1"/>
                      <a:r>
                        <a:rPr sz="4000" b="1" dirty="0" err="1">
                          <a:solidFill>
                            <a:srgbClr val="FFFFFF"/>
                          </a:solidFill>
                          <a:latin typeface="David"/>
                        </a:rPr>
                        <a:t>שנה"ל</a:t>
                      </a:r>
                      <a:r>
                        <a:rPr sz="4000" b="1" dirty="0">
                          <a:solidFill>
                            <a:srgbClr val="FFFFFF"/>
                          </a:solidFill>
                          <a:latin typeface="David"/>
                        </a:rPr>
                        <a:t> </a:t>
                      </a:r>
                      <a:r>
                        <a:rPr sz="4000" b="1" dirty="0" err="1">
                          <a:solidFill>
                            <a:srgbClr val="FFFFFF"/>
                          </a:solidFill>
                          <a:latin typeface="David"/>
                        </a:rPr>
                        <a:t>תשפ"ו</a:t>
                      </a:r>
                      <a:r>
                        <a:rPr sz="4000" b="1" dirty="0">
                          <a:solidFill>
                            <a:srgbClr val="FFFFFF"/>
                          </a:solidFill>
                          <a:latin typeface="David"/>
                        </a:rPr>
                        <a:t>, </a:t>
                      </a:r>
                      <a:r>
                        <a:rPr sz="4000" b="1" dirty="0" err="1">
                          <a:solidFill>
                            <a:srgbClr val="FFFFFF"/>
                          </a:solidFill>
                          <a:latin typeface="David"/>
                        </a:rPr>
                        <a:t>סמסטר</a:t>
                      </a:r>
                      <a:r>
                        <a:rPr sz="4000" b="1" dirty="0">
                          <a:solidFill>
                            <a:srgbClr val="FFFFFF"/>
                          </a:solidFill>
                          <a:latin typeface="David"/>
                        </a:rPr>
                        <a:t> א' 2026</a:t>
                      </a: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961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xAI</a:t>
                      </a:r>
                      <a:r>
                        <a:rPr lang="en-US" sz="4961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4961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rAI</a:t>
                      </a:r>
                      <a:r>
                        <a:rPr lang="en-US" sz="4961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comparison based on model alerted</a:t>
                      </a:r>
                      <a:endParaRPr lang="he-IL" sz="5400" dirty="0"/>
                    </a:p>
                    <a:p>
                      <a:pPr algn="ctr" rtl="1"/>
                      <a:r>
                        <a:rPr lang="en-US" sz="5400" dirty="0" err="1"/>
                        <a:t>Lotem</a:t>
                      </a:r>
                      <a:r>
                        <a:rPr lang="en-US" sz="5400" dirty="0"/>
                        <a:t> Kimchi, Boaz </a:t>
                      </a:r>
                      <a:r>
                        <a:rPr lang="en-US" sz="5400" dirty="0" err="1"/>
                        <a:t>Attiya</a:t>
                      </a:r>
                      <a:endParaRPr lang="en-US" sz="5400" dirty="0"/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635252">
                <a:tc>
                  <a:txBody>
                    <a:bodyPr/>
                    <a:lstStyle/>
                    <a:p>
                      <a:pPr marL="0" marR="0" lvl="0" indent="0" algn="ctr" defTabSz="2519995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>
                          <a:solidFill>
                            <a:schemeClr val="bg1"/>
                          </a:solidFill>
                        </a:rPr>
                        <a:t>Dr. Kojukhov</a:t>
                      </a:r>
                      <a:r>
                        <a:rPr lang="en-US" sz="5400" b="1" dirty="0">
                          <a:solidFill>
                            <a:schemeClr val="bg1"/>
                          </a:solidFill>
                        </a:rPr>
                        <a:t> Andrei</a:t>
                      </a:r>
                      <a:endParaRPr lang="he-IL" sz="5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2E9B59-38DC-46AD-A4E5-9A55979323A6}"/>
              </a:ext>
            </a:extLst>
          </p:cNvPr>
          <p:cNvSpPr/>
          <p:nvPr/>
        </p:nvSpPr>
        <p:spPr>
          <a:xfrm>
            <a:off x="818147" y="4591050"/>
            <a:ext cx="23509706" cy="30743308"/>
          </a:xfrm>
          <a:prstGeom prst="roundRect">
            <a:avLst>
              <a:gd name="adj" fmla="val 7"/>
            </a:avLst>
          </a:prstGeom>
          <a:solidFill>
            <a:srgbClr val="FFFFFF"/>
          </a:solidFill>
          <a:ln w="31750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410" y="863670"/>
            <a:ext cx="4378492" cy="30923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21067" y="4911090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400" b="1">
                <a:solidFill>
                  <a:srgbClr val="FFFFFF"/>
                </a:solidFill>
                <a:latin typeface="David"/>
              </a:rPr>
              <a:t>Introduction — מבוא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1067" y="6008370"/>
            <a:ext cx="22503866" cy="3642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</a:rPr>
              <a:t>רקע</a:t>
            </a:r>
            <a:r>
              <a:rPr sz="3400" b="1" dirty="0">
                <a:solidFill>
                  <a:srgbClr val="0C4A4A"/>
                </a:solidFill>
              </a:rPr>
              <a:t>: </a:t>
            </a:r>
            <a:r>
              <a:rPr sz="3400" dirty="0" err="1">
                <a:solidFill>
                  <a:srgbClr val="1A1A1A"/>
                </a:solidFill>
              </a:rPr>
              <a:t>מרכזי</a:t>
            </a:r>
            <a:r>
              <a:rPr sz="3400" dirty="0">
                <a:solidFill>
                  <a:srgbClr val="1A1A1A"/>
                </a:solidFill>
              </a:rPr>
              <a:t> SOC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מודרניים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נשענים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על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מודלים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סטטיסטיים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לגילוי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אנומליות</a:t>
            </a:r>
            <a:r>
              <a:rPr sz="3400" dirty="0">
                <a:solidFill>
                  <a:srgbClr val="1A1A1A"/>
                </a:solidFill>
              </a:rPr>
              <a:t>, </a:t>
            </a:r>
            <a:r>
              <a:rPr sz="3400" dirty="0" err="1">
                <a:solidFill>
                  <a:srgbClr val="1A1A1A"/>
                </a:solidFill>
              </a:rPr>
              <a:t>אך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שילוב</a:t>
            </a:r>
            <a:r>
              <a:rPr sz="3400" dirty="0">
                <a:solidFill>
                  <a:srgbClr val="1A1A1A"/>
                </a:solidFill>
              </a:rPr>
              <a:t> AI </a:t>
            </a:r>
            <a:r>
              <a:rPr sz="3400" dirty="0" err="1">
                <a:solidFill>
                  <a:srgbClr val="1A1A1A"/>
                </a:solidFill>
              </a:rPr>
              <a:t>בשרשרת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ההחלטה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התפעולית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מחייב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שקיפות</a:t>
            </a:r>
            <a:r>
              <a:rPr sz="3400" dirty="0">
                <a:solidFill>
                  <a:srgbClr val="1A1A1A"/>
                </a:solidFill>
              </a:rPr>
              <a:t> (XAI) 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ואחריותיות</a:t>
            </a:r>
            <a:r>
              <a:rPr sz="3400" dirty="0">
                <a:solidFill>
                  <a:srgbClr val="1A1A1A"/>
                </a:solidFill>
              </a:rPr>
              <a:t> (RAI) — 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לא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רק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דיוק</a:t>
            </a:r>
            <a:r>
              <a:rPr sz="3400" dirty="0">
                <a:solidFill>
                  <a:srgbClr val="1A1A1A"/>
                </a:solidFill>
              </a:rPr>
              <a:t>.</a:t>
            </a:r>
            <a:r>
              <a:rPr lang="he-IL" sz="3400" dirty="0">
                <a:solidFill>
                  <a:srgbClr val="1A1A1A"/>
                </a:solidFill>
              </a:rPr>
              <a:t> תוצאות מודלים אלה מושפעות ממקור החיזוי.</a:t>
            </a:r>
            <a:endParaRPr sz="3400" dirty="0">
              <a:solidFill>
                <a:srgbClr val="1A1A1A"/>
              </a:solidFill>
            </a:endParaRPr>
          </a:p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</a:rPr>
              <a:t>שאלת</a:t>
            </a:r>
            <a:r>
              <a:rPr sz="3400" b="1" dirty="0">
                <a:solidFill>
                  <a:srgbClr val="0C4A4A"/>
                </a:solidFill>
              </a:rPr>
              <a:t> </a:t>
            </a:r>
            <a:r>
              <a:rPr sz="3400" b="1" dirty="0" err="1">
                <a:solidFill>
                  <a:srgbClr val="0C4A4A"/>
                </a:solidFill>
              </a:rPr>
              <a:t>המחקר</a:t>
            </a:r>
            <a:r>
              <a:rPr sz="3400" b="1" dirty="0">
                <a:solidFill>
                  <a:srgbClr val="0C4A4A"/>
                </a:solidFill>
              </a:rPr>
              <a:t>: </a:t>
            </a:r>
            <a:r>
              <a:rPr sz="3400" dirty="0" err="1">
                <a:solidFill>
                  <a:srgbClr val="1A1A1A"/>
                </a:solidFill>
              </a:rPr>
              <a:t>כאשר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מודולי</a:t>
            </a:r>
            <a:r>
              <a:rPr sz="3400" dirty="0">
                <a:solidFill>
                  <a:srgbClr val="1A1A1A"/>
                </a:solidFill>
              </a:rPr>
              <a:t> ה-XAI/RAI </a:t>
            </a:r>
            <a:r>
              <a:rPr sz="3400" dirty="0" err="1">
                <a:solidFill>
                  <a:srgbClr val="1A1A1A"/>
                </a:solidFill>
              </a:rPr>
              <a:t>מקבלים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רק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את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ציון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האנומליה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הגולמי</a:t>
            </a:r>
            <a:r>
              <a:rPr sz="3400" dirty="0">
                <a:solidFill>
                  <a:srgbClr val="1A1A1A"/>
                </a:solidFill>
              </a:rPr>
              <a:t>, </a:t>
            </a:r>
            <a:r>
              <a:rPr sz="3400" dirty="0" err="1">
                <a:solidFill>
                  <a:srgbClr val="1A1A1A"/>
                </a:solidFill>
              </a:rPr>
              <a:t>קשה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לייחס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הבדלים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בפלט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שלהם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למודל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עצמו</a:t>
            </a:r>
            <a:r>
              <a:rPr sz="3400" dirty="0">
                <a:solidFill>
                  <a:srgbClr val="1A1A1A"/>
                </a:solidFill>
              </a:rPr>
              <a:t> — </a:t>
            </a:r>
            <a:r>
              <a:rPr sz="3400" dirty="0" err="1">
                <a:solidFill>
                  <a:srgbClr val="1A1A1A"/>
                </a:solidFill>
              </a:rPr>
              <a:t>נדרשה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העשרת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המידע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שמוזן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אליהם</a:t>
            </a:r>
            <a:r>
              <a:rPr sz="3400" dirty="0">
                <a:solidFill>
                  <a:srgbClr val="1A1A1A"/>
                </a:solidFill>
              </a:rPr>
              <a:t> ב-evidence </a:t>
            </a:r>
            <a:r>
              <a:rPr sz="3400" dirty="0" err="1">
                <a:solidFill>
                  <a:srgbClr val="1A1A1A"/>
                </a:solidFill>
              </a:rPr>
              <a:t>שנוצר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כבר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בשלב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החיזוי</a:t>
            </a:r>
            <a:r>
              <a:rPr lang="he-IL" sz="3400" dirty="0">
                <a:solidFill>
                  <a:srgbClr val="1A1A1A"/>
                </a:solidFill>
              </a:rPr>
              <a:t>. האם מקור החיזוי </a:t>
            </a:r>
            <a:r>
              <a:rPr lang="he-IL" sz="3400" dirty="0" err="1">
                <a:solidFill>
                  <a:srgbClr val="1A1A1A"/>
                </a:solidFill>
              </a:rPr>
              <a:t>וה</a:t>
            </a:r>
            <a:r>
              <a:rPr lang="en-US" sz="3400" dirty="0">
                <a:solidFill>
                  <a:srgbClr val="1A1A1A"/>
                </a:solidFill>
              </a:rPr>
              <a:t>evidence</a:t>
            </a:r>
            <a:r>
              <a:rPr lang="he-IL" sz="3400" dirty="0">
                <a:solidFill>
                  <a:srgbClr val="1A1A1A"/>
                </a:solidFill>
              </a:rPr>
              <a:t> משפיעים על תוצאות המודלים?</a:t>
            </a:r>
            <a:endParaRPr sz="3400" dirty="0">
              <a:solidFill>
                <a:srgbClr val="1A1A1A"/>
              </a:solidFill>
            </a:endParaRPr>
          </a:p>
          <a:p>
            <a:pPr algn="r" rtl="1">
              <a:lnSpc>
                <a:spcPct val="105000"/>
              </a:lnSpc>
              <a:spcAft>
                <a:spcPts val="1400"/>
              </a:spcAft>
            </a:pPr>
            <a:r>
              <a:rPr sz="3400" b="1" dirty="0" err="1">
                <a:solidFill>
                  <a:srgbClr val="0C4A4A"/>
                </a:solidFill>
              </a:rPr>
              <a:t>מטרות</a:t>
            </a:r>
            <a:r>
              <a:rPr sz="3400" b="1" dirty="0">
                <a:solidFill>
                  <a:srgbClr val="0C4A4A"/>
                </a:solidFill>
              </a:rPr>
              <a:t>: </a:t>
            </a:r>
            <a:r>
              <a:rPr sz="3400" dirty="0" err="1">
                <a:solidFill>
                  <a:srgbClr val="1A1A1A"/>
                </a:solidFill>
              </a:rPr>
              <a:t>מחקר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עצמאי</a:t>
            </a:r>
            <a:r>
              <a:rPr sz="3400" dirty="0">
                <a:solidFill>
                  <a:srgbClr val="1A1A1A"/>
                </a:solidFill>
              </a:rPr>
              <a:t> (offline) </a:t>
            </a:r>
            <a:r>
              <a:rPr sz="3400" dirty="0" err="1">
                <a:solidFill>
                  <a:srgbClr val="1A1A1A"/>
                </a:solidFill>
              </a:rPr>
              <a:t>המשווה</a:t>
            </a:r>
            <a:r>
              <a:rPr sz="3400" dirty="0">
                <a:solidFill>
                  <a:srgbClr val="1A1A1A"/>
                </a:solidFill>
              </a:rPr>
              <a:t> Isolation Forest 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מול</a:t>
            </a:r>
            <a:r>
              <a:rPr sz="3400" dirty="0">
                <a:solidFill>
                  <a:srgbClr val="1A1A1A"/>
                </a:solidFill>
              </a:rPr>
              <a:t> Autoencoder 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על</a:t>
            </a:r>
            <a:r>
              <a:rPr sz="3400" dirty="0">
                <a:solidFill>
                  <a:srgbClr val="1A1A1A"/>
                </a:solidFill>
              </a:rPr>
              <a:t> NSL-KDD 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דרך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מודולי</a:t>
            </a:r>
            <a:r>
              <a:rPr sz="3400" dirty="0">
                <a:solidFill>
                  <a:srgbClr val="1A1A1A"/>
                </a:solidFill>
              </a:rPr>
              <a:t> XAI/RAI </a:t>
            </a:r>
            <a:r>
              <a:rPr lang="he-IL"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קיימים</a:t>
            </a:r>
            <a:r>
              <a:rPr sz="3400" dirty="0">
                <a:solidFill>
                  <a:srgbClr val="1A1A1A"/>
                </a:solidFill>
              </a:rPr>
              <a:t>, </a:t>
            </a:r>
            <a:r>
              <a:rPr sz="3400" dirty="0" err="1">
                <a:solidFill>
                  <a:srgbClr val="1A1A1A"/>
                </a:solidFill>
              </a:rPr>
              <a:t>ובוחן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כיצד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בחירת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המודל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משפיעה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על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ההסבר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ועל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הערכת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הממשל</a:t>
            </a:r>
            <a:r>
              <a:rPr sz="3400" dirty="0">
                <a:solidFill>
                  <a:srgbClr val="1A1A1A"/>
                </a:solidFill>
              </a:rPr>
              <a:t> </a:t>
            </a:r>
            <a:r>
              <a:rPr sz="3400" dirty="0" err="1">
                <a:solidFill>
                  <a:srgbClr val="1A1A1A"/>
                </a:solidFill>
              </a:rPr>
              <a:t>כאחד</a:t>
            </a:r>
            <a:r>
              <a:rPr sz="3400" dirty="0">
                <a:solidFill>
                  <a:srgbClr val="1A1A1A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1067" y="9528810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400" b="1">
                <a:solidFill>
                  <a:srgbClr val="FFFFFF"/>
                </a:solidFill>
                <a:latin typeface="David"/>
              </a:rPr>
              <a:t>System Architecture — הפייפליין הניסיוני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1067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90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2C2C2A"/>
                </a:solidFill>
                <a:latin typeface="Arial"/>
              </a:rPr>
              <a:t>NSL-KDD dataset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2C2C2A"/>
                </a:solidFill>
                <a:latin typeface="Arial"/>
              </a:rPr>
              <a:t>Network intrusion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63883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38203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9050">
            <a:solidFill>
              <a:srgbClr val="00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 dirty="0">
                <a:solidFill>
                  <a:srgbClr val="085041"/>
                </a:solidFill>
                <a:latin typeface="Arial"/>
              </a:rPr>
              <a:t>Train 2 models</a:t>
            </a:r>
          </a:p>
          <a:p>
            <a:pPr algn="ctr">
              <a:spcBef>
                <a:spcPts val="600"/>
              </a:spcBef>
            </a:pPr>
            <a:r>
              <a:rPr sz="1900" dirty="0">
                <a:solidFill>
                  <a:srgbClr val="085041"/>
                </a:solidFill>
                <a:latin typeface="Arial"/>
              </a:rPr>
              <a:t>Isolation Forest &amp; Autoencoder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081019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55339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19050">
            <a:solidFill>
              <a:srgbClr val="50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2C2C2A"/>
                </a:solidFill>
                <a:latin typeface="Arial"/>
              </a:rPr>
              <a:t>Predict on new data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2C2C2A"/>
                </a:solidFill>
                <a:latin typeface="Arial"/>
              </a:rPr>
              <a:t>Each model scores independently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598155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872475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9050">
            <a:solidFill>
              <a:srgbClr val="D85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4A1B0C"/>
                </a:solidFill>
                <a:latin typeface="Arial"/>
              </a:rPr>
              <a:t>Existing XAI + RAI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4A1B0C"/>
                </a:solidFill>
                <a:latin typeface="Arial"/>
              </a:rPr>
              <a:t>Explain &amp; evaluate each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115291" y="11577066"/>
            <a:ext cx="256032" cy="292608"/>
          </a:xfrm>
          <a:prstGeom prst="rightArrow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9389611" y="10717530"/>
            <a:ext cx="4224528" cy="2011680"/>
          </a:xfrm>
          <a:prstGeom prst="roundRect">
            <a:avLst>
              <a:gd name="adj" fmla="val 8000"/>
            </a:avLst>
          </a:prstGeom>
          <a:solidFill>
            <a:srgbClr val="0C4A4A"/>
          </a:solidFill>
          <a:ln w="19050">
            <a:solidFill>
              <a:srgbClr val="0C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Compare &amp; results</a:t>
            </a:r>
          </a:p>
          <a:p>
            <a:pPr algn="ctr"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  <a:latin typeface="Arial"/>
              </a:rPr>
              <a:t>Isolation Forest vs Autoencoder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1067" y="13136118"/>
            <a:ext cx="22503866" cy="86868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400" b="1" dirty="0">
                <a:solidFill>
                  <a:srgbClr val="FFFFFF"/>
                </a:solidFill>
                <a:latin typeface="David"/>
              </a:rPr>
              <a:t>Key Results — </a:t>
            </a:r>
            <a:r>
              <a:rPr sz="5400" b="1" dirty="0" err="1">
                <a:solidFill>
                  <a:srgbClr val="FFFFFF"/>
                </a:solidFill>
                <a:latin typeface="David"/>
              </a:rPr>
              <a:t>ממצאים</a:t>
            </a:r>
            <a:r>
              <a:rPr sz="5400" b="1" dirty="0">
                <a:solidFill>
                  <a:srgbClr val="FFFFFF"/>
                </a:solidFill>
                <a:latin typeface="David"/>
              </a:rPr>
              <a:t> </a:t>
            </a:r>
            <a:r>
              <a:rPr sz="5400" b="1" dirty="0" err="1">
                <a:solidFill>
                  <a:srgbClr val="FFFFFF"/>
                </a:solidFill>
                <a:latin typeface="David"/>
              </a:rPr>
              <a:t>מרכזיים</a:t>
            </a:r>
            <a:endParaRPr sz="5400" b="1" dirty="0">
              <a:solidFill>
                <a:srgbClr val="FFFFFF"/>
              </a:solidFill>
              <a:latin typeface="David"/>
            </a:endParaRPr>
          </a:p>
        </p:txBody>
      </p:sp>
      <p:pic>
        <p:nvPicPr>
          <p:cNvPr id="21" name="Picture 20" descr="metrics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22" y="14064996"/>
            <a:ext cx="10522634" cy="6217920"/>
          </a:xfrm>
          <a:prstGeom prst="rect">
            <a:avLst/>
          </a:prstGeom>
        </p:spPr>
      </p:pic>
      <p:pic>
        <p:nvPicPr>
          <p:cNvPr id="22" name="Picture 21" descr="if_fairness_sub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54191" y="14066696"/>
            <a:ext cx="9087729" cy="6217920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431485"/>
              </p:ext>
            </p:extLst>
          </p:nvPr>
        </p:nvGraphicFramePr>
        <p:xfrm>
          <a:off x="1321067" y="20579506"/>
          <a:ext cx="22398470" cy="3421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9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9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96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9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079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</a:rPr>
                        <a:t>Autoencoder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Governance Outcome</a:t>
                      </a:r>
                    </a:p>
                  </a:txBody>
                  <a:tcPr anchor="ctr">
                    <a:solidFill>
                      <a:srgbClr val="0C4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r" rtl="1"/>
                      <a:r>
                        <a:rPr sz="2000">
                          <a:solidFill>
                            <a:srgbClr val="1A1A1A"/>
                          </a:solidFill>
                          <a:latin typeface="David"/>
                        </a:rPr>
                        <a:t>A — הסכמה (שניהם מתריעים)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1A1A1A"/>
                          </a:solidFill>
                          <a:latin typeface="Arial"/>
                        </a:rPr>
                        <a:t>Anomaly — Human approval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A1A1A"/>
                          </a:solidFill>
                          <a:latin typeface="Arial"/>
                        </a:rPr>
                        <a:t>Anomaly — Auto-contained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2000">
                          <a:solidFill>
                            <a:srgbClr val="1A1A1A"/>
                          </a:solidFill>
                          <a:latin typeface="David"/>
                        </a:rPr>
                        <a:t>AE מותר, IF חסום (הוגנות)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r" rtl="1"/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B — IF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בלבד</a:t>
                      </a:r>
                      <a:endParaRPr sz="20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1A1A1A"/>
                          </a:solidFill>
                          <a:latin typeface="Arial"/>
                        </a:rPr>
                        <a:t>Anomaly — Human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1A1A1A"/>
                          </a:solidFill>
                          <a:latin typeface="Arial"/>
                        </a:rPr>
                        <a:t>Normal — no 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אי-הסכמה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: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נדרש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בירור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אנושי</a:t>
                      </a:r>
                      <a:endParaRPr sz="20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r" rtl="1"/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C — AE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בלבד</a:t>
                      </a:r>
                      <a:endParaRPr sz="20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1A1A1A"/>
                          </a:solidFill>
                          <a:latin typeface="Arial"/>
                        </a:rPr>
                        <a:t>Normal — no action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1A1A1A"/>
                          </a:solidFill>
                          <a:latin typeface="Arial"/>
                        </a:rPr>
                        <a:t>Anomaly — Auto-contained</a:t>
                      </a: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AE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מזהה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הסלמת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הרשאות</a:t>
                      </a:r>
                      <a:endParaRPr sz="20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EE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1989">
                <a:tc>
                  <a:txBody>
                    <a:bodyPr/>
                    <a:lstStyle/>
                    <a:p>
                      <a:pPr algn="r" rtl="1"/>
                      <a:r>
                        <a:rPr sz="2000">
                          <a:solidFill>
                            <a:srgbClr val="1A1A1A"/>
                          </a:solidFill>
                          <a:latin typeface="David"/>
                        </a:rPr>
                        <a:t>D — הסכמה (שניהם נורמלי)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dirty="0">
                          <a:solidFill>
                            <a:srgbClr val="1A1A1A"/>
                          </a:solidFill>
                          <a:latin typeface="Arial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>
                          <a:solidFill>
                            <a:srgbClr val="1A1A1A"/>
                          </a:solidFill>
                          <a:latin typeface="Arial"/>
                        </a:rPr>
                        <a:t>Normal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אין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פעולה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—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קונצנזוס</a:t>
                      </a:r>
                      <a:r>
                        <a:rPr sz="2000" dirty="0">
                          <a:solidFill>
                            <a:srgbClr val="1A1A1A"/>
                          </a:solidFill>
                          <a:latin typeface="David"/>
                        </a:rPr>
                        <a:t> </a:t>
                      </a:r>
                      <a:r>
                        <a:rPr sz="2000" dirty="0" err="1">
                          <a:solidFill>
                            <a:srgbClr val="1A1A1A"/>
                          </a:solidFill>
                          <a:latin typeface="David"/>
                        </a:rPr>
                        <a:t>תקינות</a:t>
                      </a:r>
                      <a:endParaRPr sz="2000" dirty="0">
                        <a:solidFill>
                          <a:srgbClr val="1A1A1A"/>
                        </a:solidFill>
                        <a:latin typeface="Davi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1321067" y="27249882"/>
            <a:ext cx="22503866" cy="82296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200" b="1">
                <a:solidFill>
                  <a:srgbClr val="FFFFFF"/>
                </a:solidFill>
                <a:latin typeface="David"/>
              </a:rPr>
              <a:t>Conclusions — מסקנות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1067" y="28210002"/>
            <a:ext cx="22503866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800"/>
              </a:spcAft>
            </a:pPr>
            <a:r>
              <a:rPr sz="27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שני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המודלים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השיגו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ביצועי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סיווג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כמעט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זהים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(F1 ≈ 0.90),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אך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פער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ההוגנות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ביניהם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שונה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כ-6.6 — 47.6% ב-Isolation Forest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מול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7.2% ב-Autoencoder —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ולכן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בחירת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המודל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קובעת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בפועל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מסלול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הממשל</a:t>
            </a:r>
            <a:r>
              <a:rPr sz="2700" dirty="0">
                <a:solidFill>
                  <a:srgbClr val="1A1A1A"/>
                </a:solidFill>
                <a:latin typeface="David"/>
              </a:rPr>
              <a:t>: Autoencoder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זכאי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להכלה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אוטומטית</a:t>
            </a:r>
            <a:r>
              <a:rPr sz="2700" dirty="0">
                <a:solidFill>
                  <a:srgbClr val="1A1A1A"/>
                </a:solidFill>
                <a:latin typeface="David"/>
              </a:rPr>
              <a:t>,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ואילו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כל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התראת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Isolation Forest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נחסמת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ודורשת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אישור</a:t>
            </a:r>
            <a:r>
              <a:rPr sz="2700" dirty="0">
                <a:solidFill>
                  <a:srgbClr val="1A1A1A"/>
                </a:solidFill>
                <a:latin typeface="David"/>
              </a:rPr>
              <a:t> </a:t>
            </a:r>
            <a:r>
              <a:rPr sz="2700" dirty="0" err="1">
                <a:solidFill>
                  <a:srgbClr val="1A1A1A"/>
                </a:solidFill>
                <a:latin typeface="David"/>
              </a:rPr>
              <a:t>אנושי</a:t>
            </a:r>
            <a:r>
              <a:rPr sz="2700" dirty="0">
                <a:solidFill>
                  <a:srgbClr val="1A1A1A"/>
                </a:solidFill>
                <a:latin typeface="David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1067" y="30633162"/>
            <a:ext cx="22503866" cy="822960"/>
          </a:xfrm>
          <a:prstGeom prst="roundRect">
            <a:avLst>
              <a:gd name="adj" fmla="val 12000"/>
            </a:avLst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 rtl="1"/>
            <a:r>
              <a:rPr sz="5200" b="1" dirty="0">
                <a:solidFill>
                  <a:srgbClr val="FFFFFF"/>
                </a:solidFill>
                <a:latin typeface="David"/>
              </a:rPr>
              <a:t>Discussions — </a:t>
            </a:r>
            <a:r>
              <a:rPr sz="5200" b="1" dirty="0" err="1">
                <a:solidFill>
                  <a:srgbClr val="FFFFFF"/>
                </a:solidFill>
                <a:latin typeface="David"/>
              </a:rPr>
              <a:t>דיון</a:t>
            </a:r>
            <a:r>
              <a:rPr sz="5200" b="1" dirty="0">
                <a:solidFill>
                  <a:srgbClr val="FFFFFF"/>
                </a:solidFill>
                <a:latin typeface="David"/>
              </a:rPr>
              <a:t> </a:t>
            </a:r>
            <a:r>
              <a:rPr sz="5200" b="1" dirty="0" err="1">
                <a:solidFill>
                  <a:srgbClr val="FFFFFF"/>
                </a:solidFill>
                <a:latin typeface="David"/>
              </a:rPr>
              <a:t>והמשך</a:t>
            </a:r>
            <a:endParaRPr sz="5200" b="1" dirty="0">
              <a:solidFill>
                <a:srgbClr val="FFFFFF"/>
              </a:solidFill>
              <a:latin typeface="Davi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1067" y="31593282"/>
            <a:ext cx="22503866" cy="34210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המשך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פיתוח</a:t>
            </a:r>
            <a:r>
              <a:rPr sz="2800" dirty="0">
                <a:solidFill>
                  <a:srgbClr val="1A1A1A"/>
                </a:solidFill>
                <a:latin typeface="David"/>
              </a:rPr>
              <a:t>: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חיווט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robustness_report</a:t>
            </a:r>
            <a:r>
              <a:rPr sz="2800" dirty="0">
                <a:solidFill>
                  <a:srgbClr val="1A1A1A"/>
                </a:solidFill>
                <a:latin typeface="David"/>
              </a:rPr>
              <a:t> ו-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transparency_report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לתוך</a:t>
            </a:r>
            <a:r>
              <a:rPr sz="2800" dirty="0">
                <a:solidFill>
                  <a:srgbClr val="1A1A1A"/>
                </a:solidFill>
                <a:latin typeface="David"/>
              </a:rPr>
              <a:t> ה-Payload,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והרחבה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למערך</a:t>
            </a:r>
            <a:r>
              <a:rPr sz="2800" dirty="0">
                <a:solidFill>
                  <a:srgbClr val="1A1A1A"/>
                </a:solidFill>
                <a:latin typeface="David"/>
              </a:rPr>
              <a:t> Credit Card Fraud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לבדיקת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עקביות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הממצא</a:t>
            </a:r>
            <a:r>
              <a:rPr sz="28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הסתייגות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מתודולוגית</a:t>
            </a:r>
            <a:r>
              <a:rPr sz="2800" dirty="0">
                <a:solidFill>
                  <a:srgbClr val="1A1A1A"/>
                </a:solidFill>
                <a:latin typeface="David"/>
              </a:rPr>
              <a:t>: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protocol_type</a:t>
            </a:r>
            <a:r>
              <a:rPr sz="2800" dirty="0">
                <a:solidFill>
                  <a:srgbClr val="1A1A1A"/>
                </a:solidFill>
                <a:latin typeface="David"/>
              </a:rPr>
              <a:t> הוא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תכונת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proxy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ולא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תכונה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דמוגרפית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—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הבדיקה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היא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פער-ביצועים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תפעולי</a:t>
            </a:r>
            <a:r>
              <a:rPr sz="2800" dirty="0">
                <a:solidFill>
                  <a:srgbClr val="1A1A1A"/>
                </a:solidFill>
                <a:latin typeface="David"/>
              </a:rPr>
              <a:t>,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לא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ביקורת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הוגנות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משפטית</a:t>
            </a:r>
            <a:r>
              <a:rPr sz="2800" dirty="0">
                <a:solidFill>
                  <a:srgbClr val="1A1A1A"/>
                </a:solidFill>
                <a:latin typeface="David"/>
              </a:rPr>
              <a:t>.</a:t>
            </a:r>
          </a:p>
          <a:p>
            <a:pPr algn="r" rtl="1">
              <a:lnSpc>
                <a:spcPct val="100000"/>
              </a:lnSpc>
              <a:spcAft>
                <a:spcPts val="600"/>
              </a:spcAft>
            </a:pPr>
            <a:r>
              <a:rPr sz="2800" dirty="0">
                <a:solidFill>
                  <a:srgbClr val="1A1A1A"/>
                </a:solidFill>
                <a:latin typeface="David"/>
              </a:rPr>
              <a:t>• 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קוד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מקור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ותיעוד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מלא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זמינים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במאגר</a:t>
            </a:r>
            <a:r>
              <a:rPr sz="2800" dirty="0">
                <a:solidFill>
                  <a:srgbClr val="1A1A1A"/>
                </a:solidFill>
                <a:latin typeface="David"/>
              </a:rPr>
              <a:t> 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הפרויקט</a:t>
            </a:r>
            <a:r>
              <a:rPr sz="2800" dirty="0">
                <a:solidFill>
                  <a:srgbClr val="1A1A1A"/>
                </a:solidFill>
                <a:latin typeface="David"/>
              </a:rPr>
              <a:t> (research/</a:t>
            </a:r>
            <a:r>
              <a:rPr sz="2800" dirty="0" err="1">
                <a:solidFill>
                  <a:srgbClr val="1A1A1A"/>
                </a:solidFill>
                <a:latin typeface="David"/>
              </a:rPr>
              <a:t>xai_rai_comparison</a:t>
            </a:r>
            <a:r>
              <a:rPr sz="2800" dirty="0">
                <a:solidFill>
                  <a:srgbClr val="1A1A1A"/>
                </a:solidFill>
                <a:latin typeface="David"/>
              </a:rPr>
              <a:t>/).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883A2-9C43-4F18-8BDA-753A89B72E1D}"/>
              </a:ext>
            </a:extLst>
          </p:cNvPr>
          <p:cNvSpPr txBox="1"/>
          <p:nvPr/>
        </p:nvSpPr>
        <p:spPr>
          <a:xfrm>
            <a:off x="2305050" y="25134873"/>
            <a:ext cx="5428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3600" b="1" dirty="0"/>
              <a:t>להוסיף גרף של אימון המודל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4205</TotalTime>
  <Words>397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David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vlsi@stud-hait.ac.il</cp:lastModifiedBy>
  <cp:revision>57</cp:revision>
  <dcterms:created xsi:type="dcterms:W3CDTF">2019-01-27T10:54:29Z</dcterms:created>
  <dcterms:modified xsi:type="dcterms:W3CDTF">2026-09-14T16:16:59Z</dcterms:modified>
</cp:coreProperties>
</file>