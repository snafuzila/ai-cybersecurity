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5F80E-8855-489E-B195-A7BC17B352E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C06BE-A91D-4502-93DE-C8BABA6FB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34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C06BE-A91D-4502-93DE-C8BABA6FBF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03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0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67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8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58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51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6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43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0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6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89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55D3C5-B04D-41A5-9B17-C157FCAE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251234"/>
              </p:ext>
            </p:extLst>
          </p:nvPr>
        </p:nvGraphicFramePr>
        <p:xfrm>
          <a:off x="818147" y="365760"/>
          <a:ext cx="23509706" cy="4165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590">
                  <a:extLst>
                    <a:ext uri="{9D8B030D-6E8A-4147-A177-3AD203B41FA5}">
                      <a16:colId xmlns:a16="http://schemas.microsoft.com/office/drawing/2014/main" val="4092810084"/>
                    </a:ext>
                  </a:extLst>
                </a:gridCol>
                <a:gridCol w="13210674">
                  <a:extLst>
                    <a:ext uri="{9D8B030D-6E8A-4147-A177-3AD203B41FA5}">
                      <a16:colId xmlns:a16="http://schemas.microsoft.com/office/drawing/2014/main" val="3944608498"/>
                    </a:ext>
                  </a:extLst>
                </a:gridCol>
                <a:gridCol w="4740442">
                  <a:extLst>
                    <a:ext uri="{9D8B030D-6E8A-4147-A177-3AD203B41FA5}">
                      <a16:colId xmlns:a16="http://schemas.microsoft.com/office/drawing/2014/main" val="3295376166"/>
                    </a:ext>
                  </a:extLst>
                </a:gridCol>
              </a:tblGrid>
              <a:tr h="2452878">
                <a:tc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>
                          <a:latin typeface="+mn-lt"/>
                        </a:rPr>
                        <a:t>אבטחת סייבר ובינה מלאכותית</a:t>
                      </a:r>
                      <a:endParaRPr lang="en-GB" sz="4000" dirty="0">
                        <a:latin typeface="+mn-lt"/>
                      </a:endParaRPr>
                    </a:p>
                    <a:p>
                      <a:pPr algn="ctr" rtl="1"/>
                      <a:r>
                        <a:rPr sz="40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שנה"ל</a:t>
                      </a:r>
                      <a:r>
                        <a:rPr sz="4000" b="1" dirty="0">
                          <a:solidFill>
                            <a:srgbClr val="FFFFFF"/>
                          </a:solidFill>
                          <a:latin typeface="+mn-lt"/>
                        </a:rPr>
                        <a:t> </a:t>
                      </a:r>
                      <a:r>
                        <a:rPr sz="40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תשפ"ו</a:t>
                      </a:r>
                      <a:r>
                        <a:rPr sz="4000" b="1" dirty="0">
                          <a:solidFill>
                            <a:srgbClr val="FFFFFF"/>
                          </a:solidFill>
                          <a:latin typeface="+mn-lt"/>
                        </a:rPr>
                        <a:t>, </a:t>
                      </a:r>
                      <a:r>
                        <a:rPr sz="4000" b="1" dirty="0" err="1">
                          <a:solidFill>
                            <a:srgbClr val="FFFFFF"/>
                          </a:solidFill>
                          <a:latin typeface="+mn-lt"/>
                        </a:rPr>
                        <a:t>סמסטר</a:t>
                      </a:r>
                      <a:r>
                        <a:rPr sz="4000" b="1" dirty="0">
                          <a:solidFill>
                            <a:srgbClr val="FFFFFF"/>
                          </a:solidFill>
                          <a:latin typeface="+mn-lt"/>
                        </a:rPr>
                        <a:t> א' 2026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961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xAI</a:t>
                      </a:r>
                      <a:r>
                        <a:rPr lang="en-US" sz="4961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US" sz="4961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</a:t>
                      </a:r>
                      <a:r>
                        <a:rPr lang="en-US" sz="4961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comparison based on model alerted</a:t>
                      </a:r>
                      <a:endParaRPr lang="he-IL" sz="5400" dirty="0">
                        <a:latin typeface="+mn-lt"/>
                      </a:endParaRPr>
                    </a:p>
                    <a:p>
                      <a:pPr algn="ctr" rtl="1"/>
                      <a:r>
                        <a:rPr lang="en-US" sz="4400" dirty="0" err="1">
                          <a:latin typeface="+mn-lt"/>
                        </a:rPr>
                        <a:t>Lotem</a:t>
                      </a:r>
                      <a:r>
                        <a:rPr lang="en-US" sz="4400" dirty="0">
                          <a:latin typeface="+mn-lt"/>
                        </a:rPr>
                        <a:t> Kimchi, Boaz </a:t>
                      </a:r>
                      <a:r>
                        <a:rPr lang="en-US" sz="4400" dirty="0" err="1">
                          <a:latin typeface="+mn-lt"/>
                        </a:rPr>
                        <a:t>Attiya</a:t>
                      </a:r>
                      <a:endParaRPr lang="en-US" sz="4400" dirty="0">
                        <a:latin typeface="+mn-lt"/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dirty="0">
                        <a:latin typeface="+mn-lt"/>
                      </a:endParaRPr>
                    </a:p>
                  </a:txBody>
                  <a:tcPr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67825"/>
                  </a:ext>
                </a:extLst>
              </a:tr>
              <a:tr h="1635252">
                <a:tc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chemeClr val="bg1"/>
                          </a:solidFill>
                          <a:latin typeface="+mn-lt"/>
                        </a:rPr>
                        <a:t>Dr. </a:t>
                      </a:r>
                      <a:r>
                        <a:rPr lang="en-US" sz="4400" b="1" dirty="0" err="1">
                          <a:solidFill>
                            <a:schemeClr val="bg1"/>
                          </a:solidFill>
                          <a:latin typeface="+mn-lt"/>
                        </a:rPr>
                        <a:t>Kojukhov</a:t>
                      </a:r>
                      <a:r>
                        <a:rPr lang="en-US" sz="4400" b="1" dirty="0">
                          <a:solidFill>
                            <a:schemeClr val="bg1"/>
                          </a:solidFill>
                          <a:latin typeface="+mn-lt"/>
                        </a:rPr>
                        <a:t> Andrei</a:t>
                      </a:r>
                      <a:endParaRPr lang="he-IL" sz="44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066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2E9B59-38DC-46AD-A4E5-9A55979323A6}"/>
              </a:ext>
            </a:extLst>
          </p:cNvPr>
          <p:cNvSpPr/>
          <p:nvPr/>
        </p:nvSpPr>
        <p:spPr>
          <a:xfrm>
            <a:off x="818147" y="4591050"/>
            <a:ext cx="23509706" cy="31042928"/>
          </a:xfrm>
          <a:prstGeom prst="roundRect">
            <a:avLst>
              <a:gd name="adj" fmla="val 7"/>
            </a:avLst>
          </a:prstGeom>
          <a:solidFill>
            <a:srgbClr val="FFFFFF"/>
          </a:solidFill>
          <a:ln w="31750"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410" y="863670"/>
            <a:ext cx="4378492" cy="30923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21067" y="4911090"/>
            <a:ext cx="22503866" cy="86868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lang="he-IL" sz="5400" b="1" dirty="0">
                <a:solidFill>
                  <a:srgbClr val="FFFFFF"/>
                </a:solidFill>
              </a:rPr>
              <a:t>מבוא - </a:t>
            </a:r>
            <a:r>
              <a:rPr sz="5400" b="1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067" y="6008370"/>
            <a:ext cx="22503866" cy="364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3400" b="1" dirty="0" err="1">
                <a:solidFill>
                  <a:srgbClr val="0C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רקע</a:t>
            </a:r>
            <a:r>
              <a:rPr sz="3400" b="1" dirty="0">
                <a:solidFill>
                  <a:srgbClr val="0C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מרכזי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SOC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מודרניים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נשענים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על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מודלים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סטטיסטיים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לגילוי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אנומליות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אך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שילוב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</a:t>
            </a:r>
            <a:r>
              <a:rPr lang="en-US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בשרשרת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ההחלטה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התפעולית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מחייב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שקיפות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(XAI) 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ואחריות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(RAI)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לא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רק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דיוק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תוצאות מודלים אלה מושפעות ממקור החיזוי</a:t>
            </a:r>
            <a:endParaRPr sz="3400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3400" b="1" dirty="0" err="1">
                <a:solidFill>
                  <a:srgbClr val="0C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שאלת</a:t>
            </a:r>
            <a:r>
              <a:rPr sz="3400" b="1" dirty="0">
                <a:solidFill>
                  <a:srgbClr val="0C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b="1" dirty="0" err="1">
                <a:solidFill>
                  <a:srgbClr val="0C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המחקר</a:t>
            </a:r>
            <a:r>
              <a:rPr lang="he-IL" sz="3400" b="1" dirty="0">
                <a:solidFill>
                  <a:srgbClr val="0C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כאשר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מודולי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ה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XAI/RAI 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מקבלים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רק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את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ציון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האנומליה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הגולמי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קשה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לייחס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הבדלים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בפלט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שלהם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למודל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עצמו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נד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רש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העשרת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המידע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שמוזן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אליהם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ב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evidence 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שנוצר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כבר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בשלב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החיזוי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האם מקור החיזוי </a:t>
            </a:r>
            <a:r>
              <a:rPr lang="he-IL"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וה</a:t>
            </a:r>
            <a:r>
              <a:rPr lang="en-US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evidence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משפיעים על תוצאות המודלים?</a:t>
            </a:r>
            <a:endParaRPr sz="3400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3400" b="1" dirty="0" err="1">
                <a:solidFill>
                  <a:srgbClr val="0C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מטרות</a:t>
            </a:r>
            <a:r>
              <a:rPr sz="3400" b="1" dirty="0">
                <a:solidFill>
                  <a:srgbClr val="0C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מחקר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עצמאי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המשווהIsolation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Forest 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מולAutoencoder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על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דאטה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NSL-KDD 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דרך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מודולי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XAI/RAI 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קיימים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ו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בוחן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כיצד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בחירת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המודל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משפיעה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על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ההסבר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ועל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הערכת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הממשל</a:t>
            </a:r>
            <a:r>
              <a:rPr sz="34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400" dirty="0" err="1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כאחד</a:t>
            </a:r>
            <a:endParaRPr sz="3400" dirty="0">
              <a:solidFill>
                <a:srgbClr val="1A1A1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21067" y="9810162"/>
            <a:ext cx="22503866" cy="86868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lang="he-IL" sz="5400" b="1" dirty="0">
                <a:solidFill>
                  <a:srgbClr val="FFFFFF"/>
                </a:solidFill>
              </a:rPr>
              <a:t>ארכיטקטורת מערכת - </a:t>
            </a:r>
            <a:r>
              <a:rPr sz="5400" b="1" dirty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1067" y="10811314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9050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 dirty="0">
                <a:solidFill>
                  <a:srgbClr val="2C2C2A"/>
                </a:solidFill>
                <a:latin typeface="Arial"/>
              </a:rPr>
              <a:t>NSL-KDD dataset</a:t>
            </a:r>
          </a:p>
          <a:p>
            <a:pPr algn="ctr">
              <a:spcBef>
                <a:spcPts val="600"/>
              </a:spcBef>
            </a:pPr>
            <a:r>
              <a:rPr sz="1900" dirty="0">
                <a:solidFill>
                  <a:srgbClr val="2C2C2A"/>
                </a:solidFill>
                <a:latin typeface="Arial"/>
              </a:rPr>
              <a:t>Network intrusion 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63883" y="11670850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38203" y="10811314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 dirty="0">
                <a:solidFill>
                  <a:srgbClr val="085041"/>
                </a:solidFill>
                <a:latin typeface="Arial"/>
              </a:rPr>
              <a:t>Train 2 models</a:t>
            </a:r>
          </a:p>
          <a:p>
            <a:pPr algn="ctr">
              <a:spcBef>
                <a:spcPts val="600"/>
              </a:spcBef>
            </a:pPr>
            <a:r>
              <a:rPr sz="1900" dirty="0">
                <a:solidFill>
                  <a:srgbClr val="085041"/>
                </a:solidFill>
                <a:latin typeface="Arial"/>
              </a:rPr>
              <a:t>Isolation Forest &amp; Autoencoder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081019" y="11670850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55339" y="10811314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9050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2C2C2A"/>
                </a:solidFill>
                <a:latin typeface="Arial"/>
              </a:rPr>
              <a:t>Predict on new data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2C2C2A"/>
                </a:solidFill>
                <a:latin typeface="Arial"/>
              </a:rPr>
              <a:t>Each model scores independently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598155" y="11670850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872475" y="10811314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 dirty="0">
                <a:solidFill>
                  <a:srgbClr val="4A1B0C"/>
                </a:solidFill>
                <a:latin typeface="Arial"/>
              </a:rPr>
              <a:t>Existing XAI + RAI</a:t>
            </a:r>
          </a:p>
          <a:p>
            <a:pPr algn="ctr">
              <a:spcBef>
                <a:spcPts val="600"/>
              </a:spcBef>
            </a:pPr>
            <a:r>
              <a:rPr sz="1900" dirty="0">
                <a:solidFill>
                  <a:srgbClr val="4A1B0C"/>
                </a:solidFill>
                <a:latin typeface="Arial"/>
              </a:rPr>
              <a:t>Explain &amp; evaluate each model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115291" y="11670850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389611" y="10811314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0C4A4A"/>
          </a:solidFill>
          <a:ln w="19050">
            <a:solidFill>
              <a:srgbClr val="0C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Compare &amp; results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Isolation Forest vs Autoencoder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1067" y="13136118"/>
            <a:ext cx="22503866" cy="86868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lang="he-IL" sz="5400" b="1" dirty="0">
                <a:solidFill>
                  <a:srgbClr val="FFFFFF"/>
                </a:solidFill>
              </a:rPr>
              <a:t>ממצאים מרכזיים - </a:t>
            </a:r>
            <a:r>
              <a:rPr sz="5400" b="1" dirty="0">
                <a:solidFill>
                  <a:srgbClr val="FFFFFF"/>
                </a:solidFill>
              </a:rPr>
              <a:t>Key Results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593881"/>
              </p:ext>
            </p:extLst>
          </p:nvPr>
        </p:nvGraphicFramePr>
        <p:xfrm>
          <a:off x="1373765" y="14139841"/>
          <a:ext cx="22398470" cy="3421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9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9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9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9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079">
                <a:tc>
                  <a:txBody>
                    <a:bodyPr/>
                    <a:lstStyle/>
                    <a:p>
                      <a:pPr algn="ctr" rtl="1"/>
                      <a:r>
                        <a:rPr sz="3600" b="1" dirty="0">
                          <a:solidFill>
                            <a:srgbClr val="FFFFFF"/>
                          </a:solidFill>
                          <a:latin typeface="+mn-lt"/>
                        </a:rPr>
                        <a:t>Scenario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3600" b="1" dirty="0">
                          <a:solidFill>
                            <a:srgbClr val="FFFFFF"/>
                          </a:solidFill>
                          <a:latin typeface="+mn-lt"/>
                        </a:rPr>
                        <a:t>Isolation Forest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3600" b="1" dirty="0">
                          <a:solidFill>
                            <a:srgbClr val="FFFFFF"/>
                          </a:solidFill>
                          <a:latin typeface="+mn-lt"/>
                        </a:rPr>
                        <a:t>Autoencoder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3600" b="1" dirty="0">
                          <a:solidFill>
                            <a:srgbClr val="FFFFFF"/>
                          </a:solidFill>
                          <a:latin typeface="+mn-lt"/>
                        </a:rPr>
                        <a:t>Governance Outcome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989">
                <a:tc>
                  <a:txBody>
                    <a:bodyPr/>
                    <a:lstStyle/>
                    <a:p>
                      <a:pPr algn="ctr" rtl="1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A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הסכמה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(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שניהם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מתריעי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ם)</a:t>
                      </a:r>
                      <a:endParaRPr sz="32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Anomaly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Human approval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Anomaly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Auto-contained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AE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מותר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,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IF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חסו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ם (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הוגנות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)</a:t>
                      </a:r>
                      <a:endParaRPr sz="32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989">
                <a:tc>
                  <a:txBody>
                    <a:bodyPr/>
                    <a:lstStyle/>
                    <a:p>
                      <a:pPr algn="ctr" rtl="1"/>
                      <a:r>
                        <a:rPr lang="en-US" sz="3200" dirty="0">
                          <a:solidFill>
                            <a:srgbClr val="1A1A1A"/>
                          </a:solidFill>
                          <a:latin typeface="+mn-lt"/>
                        </a:rPr>
                        <a:t>B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 – </a:t>
                      </a:r>
                      <a:r>
                        <a:rPr lang="en-US" sz="3200" dirty="0">
                          <a:solidFill>
                            <a:srgbClr val="1A1A1A"/>
                          </a:solidFill>
                          <a:latin typeface="+mn-lt"/>
                        </a:rPr>
                        <a:t>IF</a:t>
                      </a:r>
                      <a:r>
                        <a:rPr lang="he-IL" sz="3200">
                          <a:solidFill>
                            <a:srgbClr val="1A1A1A"/>
                          </a:solidFill>
                          <a:latin typeface="+mn-lt"/>
                        </a:rPr>
                        <a:t> בלבד</a:t>
                      </a:r>
                      <a:endParaRPr sz="32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Anomaly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Human approval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Normal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no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אי-הסכמה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: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נדרש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בירור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אנושי</a:t>
                      </a:r>
                      <a:endParaRPr sz="32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989">
                <a:tc>
                  <a:txBody>
                    <a:bodyPr/>
                    <a:lstStyle/>
                    <a:p>
                      <a:pPr algn="ctr" rtl="1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C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 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AE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בלבד</a:t>
                      </a:r>
                      <a:endParaRPr sz="32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Normal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no action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Anomaly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Auto-contained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AE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מזהה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הסלמת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הרשאות</a:t>
                      </a:r>
                      <a:endParaRPr sz="32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989">
                <a:tc>
                  <a:txBody>
                    <a:bodyPr/>
                    <a:lstStyle/>
                    <a:p>
                      <a:pPr algn="ctr" rtl="1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D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הסכמה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(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שניהם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נורמלי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)</a:t>
                      </a:r>
                      <a:endParaRPr sz="32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אין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פעולה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lang="he-IL" sz="3200" dirty="0">
                          <a:solidFill>
                            <a:srgbClr val="1A1A1A"/>
                          </a:solidFill>
                          <a:latin typeface="+mn-lt"/>
                        </a:rPr>
                        <a:t>-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קונצנזוס</a:t>
                      </a:r>
                      <a:r>
                        <a:rPr sz="3200" dirty="0">
                          <a:solidFill>
                            <a:srgbClr val="1A1A1A"/>
                          </a:solidFill>
                          <a:latin typeface="+mn-lt"/>
                        </a:rPr>
                        <a:t> </a:t>
                      </a:r>
                      <a:r>
                        <a:rPr sz="3200" dirty="0" err="1">
                          <a:solidFill>
                            <a:srgbClr val="1A1A1A"/>
                          </a:solidFill>
                          <a:latin typeface="+mn-lt"/>
                        </a:rPr>
                        <a:t>תקינות</a:t>
                      </a:r>
                      <a:endParaRPr sz="32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7" name="קבוצה 16">
            <a:extLst>
              <a:ext uri="{FF2B5EF4-FFF2-40B4-BE49-F238E27FC236}">
                <a16:creationId xmlns:a16="http://schemas.microsoft.com/office/drawing/2014/main" id="{B4C444D3-3831-672F-1145-CF09B407BC12}"/>
              </a:ext>
            </a:extLst>
          </p:cNvPr>
          <p:cNvGrpSpPr/>
          <p:nvPr/>
        </p:nvGrpSpPr>
        <p:grpSpPr>
          <a:xfrm>
            <a:off x="1321067" y="17999869"/>
            <a:ext cx="22503866" cy="1821894"/>
            <a:chOff x="1110273" y="29781608"/>
            <a:chExt cx="22503866" cy="1821894"/>
          </a:xfrm>
        </p:grpSpPr>
        <p:sp>
          <p:nvSpPr>
            <p:cNvPr id="24" name="Rounded Rectangle 23"/>
            <p:cNvSpPr/>
            <p:nvPr/>
          </p:nvSpPr>
          <p:spPr>
            <a:xfrm>
              <a:off x="1110273" y="29781608"/>
              <a:ext cx="22503866" cy="822960"/>
            </a:xfrm>
            <a:prstGeom prst="roundRect">
              <a:avLst>
                <a:gd name="adj" fmla="val 12000"/>
              </a:avLst>
            </a:prstGeom>
            <a:solidFill>
              <a:srgbClr val="0099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0" rIns="274320" rtlCol="0" anchor="ctr"/>
            <a:lstStyle/>
            <a:p>
              <a:pPr algn="ctr" rtl="1"/>
              <a:r>
                <a:rPr lang="he-IL" sz="5200" b="1" dirty="0">
                  <a:solidFill>
                    <a:srgbClr val="FFFFFF"/>
                  </a:solidFill>
                  <a:latin typeface="David"/>
                </a:rPr>
                <a:t>מסקנות - </a:t>
              </a:r>
              <a:r>
                <a:rPr sz="5200" b="1" dirty="0">
                  <a:solidFill>
                    <a:srgbClr val="FFFFFF"/>
                  </a:solidFill>
                  <a:latin typeface="David"/>
                </a:rPr>
                <a:t>Conclusions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110273" y="30741728"/>
              <a:ext cx="22503866" cy="8617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 rtl="1">
                <a:lnSpc>
                  <a:spcPct val="100000"/>
                </a:lnSpc>
                <a:spcAft>
                  <a:spcPts val="800"/>
                </a:spcAft>
              </a:pPr>
              <a:r>
                <a:rPr sz="2800" dirty="0">
                  <a:solidFill>
                    <a:srgbClr val="1A1A1A"/>
                  </a:solidFill>
                </a:rPr>
                <a:t>•  </a:t>
              </a:r>
              <a:r>
                <a:rPr sz="2800" dirty="0" err="1">
                  <a:solidFill>
                    <a:srgbClr val="1A1A1A"/>
                  </a:solidFill>
                </a:rPr>
                <a:t>שני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המודלים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השיגו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ביצועי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סיווג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כמעט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זהים</a:t>
              </a:r>
              <a:r>
                <a:rPr sz="2800" dirty="0">
                  <a:solidFill>
                    <a:srgbClr val="1A1A1A"/>
                  </a:solidFill>
                </a:rPr>
                <a:t> (F1 ≈ 0.90)</a:t>
              </a:r>
              <a:r>
                <a:rPr lang="he-IL" sz="2800" dirty="0">
                  <a:solidFill>
                    <a:srgbClr val="1A1A1A"/>
                  </a:solidFill>
                </a:rPr>
                <a:t>,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lang="he-IL"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אך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פער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ההוגנות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ביניהם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שונה</a:t>
              </a:r>
              <a:r>
                <a:rPr sz="2800" dirty="0">
                  <a:solidFill>
                    <a:srgbClr val="1A1A1A"/>
                  </a:solidFill>
                </a:rPr>
                <a:t> כ</a:t>
              </a:r>
              <a:r>
                <a:rPr lang="he-IL" sz="2800" dirty="0">
                  <a:solidFill>
                    <a:srgbClr val="1A1A1A"/>
                  </a:solidFill>
                </a:rPr>
                <a:t>-</a:t>
              </a:r>
              <a:r>
                <a:rPr sz="2800" dirty="0">
                  <a:solidFill>
                    <a:srgbClr val="1A1A1A"/>
                  </a:solidFill>
                </a:rPr>
                <a:t>47.6% </a:t>
              </a:r>
              <a:r>
                <a:rPr lang="he-IL" sz="2800" dirty="0">
                  <a:solidFill>
                    <a:srgbClr val="1A1A1A"/>
                  </a:solidFill>
                </a:rPr>
                <a:t> ב-</a:t>
              </a:r>
              <a:r>
                <a:rPr sz="2800" dirty="0">
                  <a:solidFill>
                    <a:srgbClr val="1A1A1A"/>
                  </a:solidFill>
                </a:rPr>
                <a:t>Isolation Forest</a:t>
              </a:r>
              <a:r>
                <a:rPr lang="he-IL" sz="2800" dirty="0">
                  <a:solidFill>
                    <a:srgbClr val="1A1A1A"/>
                  </a:solidFill>
                </a:rPr>
                <a:t> 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מול</a:t>
              </a:r>
              <a:r>
                <a:rPr sz="2800" dirty="0">
                  <a:solidFill>
                    <a:srgbClr val="1A1A1A"/>
                  </a:solidFill>
                </a:rPr>
                <a:t> 7.2% </a:t>
              </a:r>
              <a:r>
                <a:rPr lang="he-IL" sz="2800" dirty="0">
                  <a:solidFill>
                    <a:srgbClr val="1A1A1A"/>
                  </a:solidFill>
                </a:rPr>
                <a:t> </a:t>
              </a:r>
              <a:r>
                <a:rPr sz="2800" dirty="0">
                  <a:solidFill>
                    <a:srgbClr val="1A1A1A"/>
                  </a:solidFill>
                </a:rPr>
                <a:t>ב</a:t>
              </a:r>
              <a:r>
                <a:rPr lang="he-IL" sz="2800" dirty="0">
                  <a:solidFill>
                    <a:srgbClr val="1A1A1A"/>
                  </a:solidFill>
                </a:rPr>
                <a:t>-</a:t>
              </a:r>
              <a:r>
                <a:rPr sz="2800" dirty="0">
                  <a:solidFill>
                    <a:srgbClr val="1A1A1A"/>
                  </a:solidFill>
                </a:rPr>
                <a:t>Autoencode</a:t>
              </a:r>
              <a:r>
                <a:rPr lang="en-US" sz="2800" dirty="0">
                  <a:solidFill>
                    <a:srgbClr val="1A1A1A"/>
                  </a:solidFill>
                </a:rPr>
                <a:t>r</a:t>
              </a:r>
              <a:r>
                <a:rPr lang="he-IL" sz="2800" dirty="0">
                  <a:solidFill>
                    <a:srgbClr val="1A1A1A"/>
                  </a:solidFill>
                </a:rPr>
                <a:t>- 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ולכן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בחירת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המודל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lang="he-IL" sz="2800" dirty="0">
                  <a:solidFill>
                    <a:srgbClr val="1A1A1A"/>
                  </a:solidFill>
                </a:rPr>
                <a:t>	</a:t>
              </a:r>
              <a:r>
                <a:rPr sz="2800" dirty="0" err="1">
                  <a:solidFill>
                    <a:srgbClr val="1A1A1A"/>
                  </a:solidFill>
                </a:rPr>
                <a:t>קובעת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בפועל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את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מסלול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הממשל</a:t>
              </a:r>
              <a:r>
                <a:rPr lang="he-IL" sz="2800" dirty="0">
                  <a:solidFill>
                    <a:srgbClr val="1A1A1A"/>
                  </a:solidFill>
                </a:rPr>
                <a:t>:</a:t>
              </a:r>
              <a:r>
                <a:rPr sz="2800" dirty="0">
                  <a:solidFill>
                    <a:srgbClr val="1A1A1A"/>
                  </a:solidFill>
                </a:rPr>
                <a:t> Autoencoder </a:t>
              </a:r>
              <a:r>
                <a:rPr sz="2800" dirty="0" err="1">
                  <a:solidFill>
                    <a:srgbClr val="1A1A1A"/>
                  </a:solidFill>
                </a:rPr>
                <a:t>זכאי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להכלה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אוטומטית</a:t>
              </a:r>
              <a:r>
                <a:rPr sz="2800" dirty="0">
                  <a:solidFill>
                    <a:srgbClr val="1A1A1A"/>
                  </a:solidFill>
                </a:rPr>
                <a:t>, </a:t>
              </a:r>
              <a:r>
                <a:rPr sz="2800" dirty="0" err="1">
                  <a:solidFill>
                    <a:srgbClr val="1A1A1A"/>
                  </a:solidFill>
                </a:rPr>
                <a:t>ואילו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כל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התראת</a:t>
              </a:r>
              <a:r>
                <a:rPr sz="2800" dirty="0">
                  <a:solidFill>
                    <a:srgbClr val="1A1A1A"/>
                  </a:solidFill>
                </a:rPr>
                <a:t> Isolation Forest</a:t>
              </a:r>
              <a:r>
                <a:rPr lang="he-IL"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נחסמת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ודורשת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אישור</a:t>
              </a:r>
              <a:r>
                <a:rPr sz="2800" dirty="0">
                  <a:solidFill>
                    <a:srgbClr val="1A1A1A"/>
                  </a:solidFill>
                </a:rPr>
                <a:t> </a:t>
              </a:r>
              <a:r>
                <a:rPr sz="2800" dirty="0" err="1">
                  <a:solidFill>
                    <a:srgbClr val="1A1A1A"/>
                  </a:solidFill>
                </a:rPr>
                <a:t>אנושי</a:t>
              </a:r>
              <a:endParaRPr sz="2800" dirty="0">
                <a:solidFill>
                  <a:srgbClr val="1A1A1A"/>
                </a:solidFill>
              </a:endParaRPr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1353619" y="32496801"/>
            <a:ext cx="22503866" cy="82296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lang="he-IL" sz="5200" b="1" dirty="0">
                <a:solidFill>
                  <a:srgbClr val="FFFFFF"/>
                </a:solidFill>
                <a:latin typeface="David"/>
              </a:rPr>
              <a:t>דיון והמשך - </a:t>
            </a:r>
            <a:r>
              <a:rPr sz="5200" b="1" dirty="0">
                <a:solidFill>
                  <a:srgbClr val="FFFFFF"/>
                </a:solidFill>
                <a:latin typeface="David"/>
              </a:rPr>
              <a:t>Discussions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619" y="33456921"/>
            <a:ext cx="22503866" cy="187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dirty="0">
                <a:solidFill>
                  <a:srgbClr val="1A1A1A"/>
                </a:solidFill>
              </a:rPr>
              <a:t>•  </a:t>
            </a:r>
            <a:r>
              <a:rPr sz="2800" dirty="0" err="1">
                <a:solidFill>
                  <a:srgbClr val="1A1A1A"/>
                </a:solidFill>
              </a:rPr>
              <a:t>המשך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פיתוח</a:t>
            </a:r>
            <a:r>
              <a:rPr lang="he-IL" sz="2800" dirty="0">
                <a:solidFill>
                  <a:srgbClr val="1A1A1A"/>
                </a:solidFill>
              </a:rPr>
              <a:t>: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והרחבה</a:t>
            </a:r>
            <a:r>
              <a:rPr sz="2800" dirty="0">
                <a:solidFill>
                  <a:srgbClr val="1A1A1A"/>
                </a:solidFill>
              </a:rPr>
              <a:t> ל</a:t>
            </a:r>
            <a:r>
              <a:rPr lang="he-IL" sz="2800" dirty="0">
                <a:solidFill>
                  <a:srgbClr val="1A1A1A"/>
                </a:solidFill>
              </a:rPr>
              <a:t>מאגרי נתונים נוספים כמו </a:t>
            </a:r>
            <a:r>
              <a:rPr sz="2800" dirty="0">
                <a:solidFill>
                  <a:srgbClr val="1A1A1A"/>
                </a:solidFill>
              </a:rPr>
              <a:t> Credit Card Fraud</a:t>
            </a:r>
            <a:r>
              <a:rPr lang="he-IL"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לבדיקת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עקביות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הממצא</a:t>
            </a:r>
            <a:endParaRPr sz="2800" dirty="0">
              <a:solidFill>
                <a:srgbClr val="1A1A1A"/>
              </a:solidFill>
            </a:endParaRPr>
          </a:p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dirty="0">
                <a:solidFill>
                  <a:srgbClr val="1A1A1A"/>
                </a:solidFill>
              </a:rPr>
              <a:t>•  </a:t>
            </a:r>
            <a:r>
              <a:rPr lang="he-IL" sz="2800" dirty="0">
                <a:solidFill>
                  <a:srgbClr val="1A1A1A"/>
                </a:solidFill>
              </a:rPr>
              <a:t>סף הסיווג נגזר </a:t>
            </a:r>
            <a:r>
              <a:rPr lang="he-IL" sz="2800" dirty="0" err="1">
                <a:solidFill>
                  <a:srgbClr val="1A1A1A"/>
                </a:solidFill>
              </a:rPr>
              <a:t>מפריור</a:t>
            </a:r>
            <a:r>
              <a:rPr lang="he-IL" sz="2800" dirty="0">
                <a:solidFill>
                  <a:srgbClr val="1A1A1A"/>
                </a:solidFill>
              </a:rPr>
              <a:t> שיעור האנומליה של סט הבדיקה, מה שמניב </a:t>
            </a:r>
            <a:r>
              <a:rPr lang="en-US" sz="2800" dirty="0" err="1">
                <a:solidFill>
                  <a:srgbClr val="1A1A1A"/>
                </a:solidFill>
              </a:rPr>
              <a:t>Precision≈Recall</a:t>
            </a:r>
            <a:r>
              <a:rPr lang="en-US" sz="2800" dirty="0">
                <a:solidFill>
                  <a:srgbClr val="1A1A1A"/>
                </a:solidFill>
              </a:rPr>
              <a:t> </a:t>
            </a:r>
            <a:r>
              <a:rPr lang="he-IL" sz="2800" dirty="0">
                <a:solidFill>
                  <a:srgbClr val="1A1A1A"/>
                </a:solidFill>
              </a:rPr>
              <a:t> כמעט תמיד, שקול תפעולי מכוון, אך משמעו שהמדדים הללו אינם משקפים 	באופן ישיר ביצועים תחת נקודת הפעלה תפעולית שונה </a:t>
            </a:r>
            <a:endParaRPr sz="2800" dirty="0">
              <a:solidFill>
                <a:srgbClr val="1A1A1A"/>
              </a:solidFill>
            </a:endParaRPr>
          </a:p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dirty="0">
                <a:solidFill>
                  <a:srgbClr val="1A1A1A"/>
                </a:solidFill>
              </a:rPr>
              <a:t>•  </a:t>
            </a:r>
            <a:r>
              <a:rPr sz="2800" dirty="0" err="1">
                <a:solidFill>
                  <a:srgbClr val="1A1A1A"/>
                </a:solidFill>
              </a:rPr>
              <a:t>קוד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מקור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ותיעוד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מלא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זמינים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במאגר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sz="2800" dirty="0" err="1">
                <a:solidFill>
                  <a:srgbClr val="1A1A1A"/>
                </a:solidFill>
              </a:rPr>
              <a:t>הפרויקט</a:t>
            </a:r>
            <a:r>
              <a:rPr sz="2800" dirty="0">
                <a:solidFill>
                  <a:srgbClr val="1A1A1A"/>
                </a:solidFill>
              </a:rPr>
              <a:t> </a:t>
            </a:r>
            <a:r>
              <a:rPr lang="he-IL" sz="2800" dirty="0">
                <a:solidFill>
                  <a:srgbClr val="1A1A1A"/>
                </a:solidFill>
              </a:rPr>
              <a:t>(</a:t>
            </a:r>
            <a:r>
              <a:rPr sz="2800" dirty="0">
                <a:solidFill>
                  <a:srgbClr val="1A1A1A"/>
                </a:solidFill>
              </a:rPr>
              <a:t>research/</a:t>
            </a:r>
            <a:r>
              <a:rPr sz="2800" dirty="0" err="1">
                <a:solidFill>
                  <a:srgbClr val="1A1A1A"/>
                </a:solidFill>
              </a:rPr>
              <a:t>xai_rai_comparison</a:t>
            </a:r>
            <a:r>
              <a:rPr lang="he-IL" sz="2800" dirty="0">
                <a:solidFill>
                  <a:srgbClr val="1A1A1A"/>
                </a:solidFill>
              </a:rPr>
              <a:t>)</a:t>
            </a:r>
            <a:endParaRPr sz="2800" dirty="0">
              <a:solidFill>
                <a:srgbClr val="1A1A1A"/>
              </a:solidFill>
            </a:endParaRPr>
          </a:p>
        </p:txBody>
      </p:sp>
      <p:grpSp>
        <p:nvGrpSpPr>
          <p:cNvPr id="31" name="קבוצה 30">
            <a:extLst>
              <a:ext uri="{FF2B5EF4-FFF2-40B4-BE49-F238E27FC236}">
                <a16:creationId xmlns:a16="http://schemas.microsoft.com/office/drawing/2014/main" id="{EE553777-D519-251A-B812-C0B7AD1A2745}"/>
              </a:ext>
            </a:extLst>
          </p:cNvPr>
          <p:cNvGrpSpPr/>
          <p:nvPr/>
        </p:nvGrpSpPr>
        <p:grpSpPr>
          <a:xfrm>
            <a:off x="2573691" y="20100247"/>
            <a:ext cx="20052592" cy="12244154"/>
            <a:chOff x="2865417" y="20252647"/>
            <a:chExt cx="20052592" cy="12244154"/>
          </a:xfrm>
        </p:grpSpPr>
        <p:pic>
          <p:nvPicPr>
            <p:cNvPr id="21" name="Picture 20" descr="metrics_comparison.png"/>
            <p:cNvPicPr>
              <a:picLocks noChangeAspect="1"/>
            </p:cNvPicPr>
            <p:nvPr/>
          </p:nvPicPr>
          <p:blipFill>
            <a:blip r:embed="rId4"/>
            <a:srcRect l="-1752"/>
            <a:stretch>
              <a:fillRect/>
            </a:stretch>
          </p:blipFill>
          <p:spPr>
            <a:xfrm>
              <a:off x="12211050" y="26278881"/>
              <a:ext cx="10706959" cy="6217920"/>
            </a:xfrm>
            <a:prstGeom prst="rect">
              <a:avLst/>
            </a:prstGeom>
            <a:ln w="38100">
              <a:solidFill>
                <a:srgbClr val="009999"/>
              </a:solidFill>
            </a:ln>
          </p:spPr>
        </p:pic>
        <p:pic>
          <p:nvPicPr>
            <p:cNvPr id="22" name="Picture 21" descr="if_fairness_subgroup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65417" y="26278881"/>
              <a:ext cx="9087729" cy="6217920"/>
            </a:xfrm>
            <a:prstGeom prst="rect">
              <a:avLst/>
            </a:prstGeom>
            <a:ln w="38100">
              <a:solidFill>
                <a:srgbClr val="009999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5CA4268-CA16-F94C-2E1B-1DB82391E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11049" y="20258863"/>
              <a:ext cx="10706959" cy="5816231"/>
            </a:xfrm>
            <a:prstGeom prst="rect">
              <a:avLst/>
            </a:prstGeom>
            <a:ln w="38100">
              <a:solidFill>
                <a:srgbClr val="009999"/>
              </a:solidFill>
            </a:ln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25D203E-3E62-BC87-F775-EE1F3ED48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-3078"/>
            <a:stretch>
              <a:fillRect/>
            </a:stretch>
          </p:blipFill>
          <p:spPr>
            <a:xfrm>
              <a:off x="2865417" y="20252647"/>
              <a:ext cx="9087729" cy="5822447"/>
            </a:xfrm>
            <a:prstGeom prst="rect">
              <a:avLst/>
            </a:prstGeom>
            <a:ln w="38100">
              <a:solidFill>
                <a:srgbClr val="009999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4278</TotalTime>
  <Words>408</Words>
  <Application>Microsoft Office PowerPoint</Application>
  <PresentationFormat>מותאם אישית</PresentationFormat>
  <Paragraphs>48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David</vt:lpstr>
      <vt:lpstr>Office Theme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Patashov</dc:creator>
  <cp:lastModifiedBy>Boaz Attiya</cp:lastModifiedBy>
  <cp:revision>64</cp:revision>
  <dcterms:created xsi:type="dcterms:W3CDTF">2019-01-27T10:54:29Z</dcterms:created>
  <dcterms:modified xsi:type="dcterms:W3CDTF">2026-09-29T15:48:21Z</dcterms:modified>
</cp:coreProperties>
</file>