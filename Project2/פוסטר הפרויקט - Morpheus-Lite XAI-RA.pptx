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3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5D3C5-B04D-41A5-9B17-C157FCAE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88567"/>
              </p:ext>
            </p:extLst>
          </p:nvPr>
        </p:nvGraphicFramePr>
        <p:xfrm>
          <a:off x="818147" y="365760"/>
          <a:ext cx="23509706" cy="4165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2452878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אבטחת סייבר ובינה מלאכותית</a:t>
                      </a:r>
                      <a:endParaRPr lang="en-GB" sz="4000" dirty="0"/>
                    </a:p>
                    <a:p>
                      <a:pPr algn="ctr" rtl="1"/>
                      <a:r>
                        <a:rPr sz="4000" b="1">
                          <a:solidFill>
                            <a:srgbClr val="FFFFFF"/>
                          </a:solidFill>
                          <a:latin typeface="David"/>
                        </a:rPr>
                        <a:t>שנה"ל תשפ"ו, סמסטר א' 2026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7600" dirty="0"/>
                        <a:t>Morpheus-Lite: AI-Native Agentic SOC</a:t>
                      </a:r>
                      <a:endParaRPr lang="he-IL" sz="7600" dirty="0"/>
                    </a:p>
                    <a:p>
                      <a:pPr algn="ctr" rtl="1"/>
                      <a:r>
                        <a:rPr lang="en-US" sz="5400" dirty="0"/>
                        <a:t>לוטם ___  •  בועז ___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635252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 dirty="0">
                          <a:solidFill>
                            <a:schemeClr val="bg1"/>
                          </a:solidFill>
                        </a:rPr>
                        <a:t>ד"ר ___</a:t>
                      </a:r>
                      <a:endParaRPr lang="en-GB" sz="5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2E9B59-38DC-46AD-A4E5-9A55979323A6}"/>
              </a:ext>
            </a:extLst>
          </p:cNvPr>
          <p:cNvSpPr/>
          <p:nvPr/>
        </p:nvSpPr>
        <p:spPr>
          <a:xfrm>
            <a:off x="818147" y="4591050"/>
            <a:ext cx="23509706" cy="30743308"/>
          </a:xfrm>
          <a:prstGeom prst="roundRect">
            <a:avLst>
              <a:gd name="adj" fmla="val 7"/>
            </a:avLst>
          </a:prstGeom>
          <a:solidFill>
            <a:srgbClr val="FFFFFF"/>
          </a:solidFill>
          <a:ln w="31750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10" y="863670"/>
            <a:ext cx="4378492" cy="30923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21067" y="4911090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400" b="1">
                <a:solidFill>
                  <a:srgbClr val="FFFFFF"/>
                </a:solidFill>
                <a:latin typeface="David"/>
              </a:rPr>
              <a:t>Introduction — מבוא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067" y="6008370"/>
            <a:ext cx="22503866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  <a:latin typeface="David"/>
              </a:rPr>
              <a:t>רקע</a:t>
            </a:r>
            <a:r>
              <a:rPr sz="3400" b="1" dirty="0">
                <a:solidFill>
                  <a:srgbClr val="0C4A4A"/>
                </a:solidFill>
                <a:latin typeface="David"/>
              </a:rPr>
              <a:t>: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מרכזי</a:t>
            </a:r>
            <a:r>
              <a:rPr sz="3400" dirty="0">
                <a:solidFill>
                  <a:srgbClr val="1A1A1A"/>
                </a:solidFill>
                <a:latin typeface="David"/>
              </a:rPr>
              <a:t> SOC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מודרניים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נשענים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על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מודלים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סטטיסטיים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לגילוי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אנומליות</a:t>
            </a:r>
            <a:r>
              <a:rPr sz="3400" dirty="0">
                <a:solidFill>
                  <a:srgbClr val="1A1A1A"/>
                </a:solidFill>
                <a:latin typeface="David"/>
              </a:rPr>
              <a:t>,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אך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שילוב</a:t>
            </a:r>
            <a:r>
              <a:rPr sz="3400" dirty="0">
                <a:solidFill>
                  <a:srgbClr val="1A1A1A"/>
                </a:solidFill>
                <a:latin typeface="David"/>
              </a:rPr>
              <a:t> AI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בשרשרת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ההחלטה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התפעולית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מחייב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שקיפות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(XAI)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ואחריותיות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(RAI) —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לא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רק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דיוק</a:t>
            </a:r>
            <a:r>
              <a:rPr sz="3400" dirty="0">
                <a:solidFill>
                  <a:srgbClr val="1A1A1A"/>
                </a:solidFill>
                <a:latin typeface="David"/>
              </a:rPr>
              <a:t>.</a:t>
            </a:r>
          </a:p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  <a:latin typeface="David"/>
              </a:rPr>
              <a:t>שאלת</a:t>
            </a:r>
            <a:r>
              <a:rPr sz="3400" b="1" dirty="0">
                <a:solidFill>
                  <a:srgbClr val="0C4A4A"/>
                </a:solidFill>
                <a:latin typeface="David"/>
              </a:rPr>
              <a:t> </a:t>
            </a:r>
            <a:r>
              <a:rPr sz="3400" b="1" dirty="0" err="1">
                <a:solidFill>
                  <a:srgbClr val="0C4A4A"/>
                </a:solidFill>
                <a:latin typeface="David"/>
              </a:rPr>
              <a:t>המחקר</a:t>
            </a:r>
            <a:r>
              <a:rPr sz="3400" b="1" dirty="0">
                <a:solidFill>
                  <a:srgbClr val="0C4A4A"/>
                </a:solidFill>
                <a:latin typeface="David"/>
              </a:rPr>
              <a:t>: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כאשר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מודולי</a:t>
            </a:r>
            <a:r>
              <a:rPr sz="3400" dirty="0">
                <a:solidFill>
                  <a:srgbClr val="1A1A1A"/>
                </a:solidFill>
                <a:latin typeface="David"/>
              </a:rPr>
              <a:t> ה-XAI/RAI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מקבלים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רק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את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ציון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האנומליה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הגולמי</a:t>
            </a:r>
            <a:r>
              <a:rPr sz="3400" dirty="0">
                <a:solidFill>
                  <a:srgbClr val="1A1A1A"/>
                </a:solidFill>
                <a:latin typeface="David"/>
              </a:rPr>
              <a:t>,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קשה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לייחס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הבדלים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בפלט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שלהם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למודל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עצמו</a:t>
            </a:r>
            <a:r>
              <a:rPr sz="3400" dirty="0">
                <a:solidFill>
                  <a:srgbClr val="1A1A1A"/>
                </a:solidFill>
                <a:latin typeface="David"/>
              </a:rPr>
              <a:t> —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נדרשה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העשרת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המידע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שמוזן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אליהם</a:t>
            </a:r>
            <a:r>
              <a:rPr sz="3400" dirty="0">
                <a:solidFill>
                  <a:srgbClr val="1A1A1A"/>
                </a:solidFill>
                <a:latin typeface="David"/>
              </a:rPr>
              <a:t> ב-evidence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שנוצר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כבר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בשלב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החיזוי</a:t>
            </a:r>
            <a:r>
              <a:rPr sz="3400" dirty="0">
                <a:solidFill>
                  <a:srgbClr val="1A1A1A"/>
                </a:solidFill>
                <a:latin typeface="David"/>
              </a:rPr>
              <a:t>.</a:t>
            </a:r>
          </a:p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  <a:latin typeface="David"/>
              </a:rPr>
              <a:t>מטרות</a:t>
            </a:r>
            <a:r>
              <a:rPr sz="3400" b="1" dirty="0">
                <a:solidFill>
                  <a:srgbClr val="0C4A4A"/>
                </a:solidFill>
                <a:latin typeface="David"/>
              </a:rPr>
              <a:t>: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מחקר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עצמאי</a:t>
            </a:r>
            <a:r>
              <a:rPr sz="3400" dirty="0">
                <a:solidFill>
                  <a:srgbClr val="1A1A1A"/>
                </a:solidFill>
                <a:latin typeface="David"/>
              </a:rPr>
              <a:t> (offline)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המשווה</a:t>
            </a:r>
            <a:r>
              <a:rPr sz="3400" dirty="0">
                <a:solidFill>
                  <a:srgbClr val="1A1A1A"/>
                </a:solidFill>
                <a:latin typeface="David"/>
              </a:rPr>
              <a:t> Isolation Forest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מול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Autoencoder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על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NSL-KDD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דרך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מודולי</a:t>
            </a:r>
            <a:r>
              <a:rPr sz="3400" dirty="0">
                <a:solidFill>
                  <a:srgbClr val="1A1A1A"/>
                </a:solidFill>
                <a:latin typeface="David"/>
              </a:rPr>
              <a:t> XAI/RAI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קיימים</a:t>
            </a:r>
            <a:r>
              <a:rPr sz="3400" dirty="0">
                <a:solidFill>
                  <a:srgbClr val="1A1A1A"/>
                </a:solidFill>
                <a:latin typeface="David"/>
              </a:rPr>
              <a:t>,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ובוחן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כיצד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בחירת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המודל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משפיעה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על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ההסבר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ועל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הערכת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הממשל</a:t>
            </a:r>
            <a:r>
              <a:rPr sz="3400" dirty="0">
                <a:solidFill>
                  <a:srgbClr val="1A1A1A"/>
                </a:solidFill>
                <a:latin typeface="David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David"/>
              </a:rPr>
              <a:t>כאחד</a:t>
            </a:r>
            <a:r>
              <a:rPr sz="3400" dirty="0">
                <a:solidFill>
                  <a:srgbClr val="1A1A1A"/>
                </a:solidFill>
                <a:latin typeface="David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1067" y="9528810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400" b="1">
                <a:solidFill>
                  <a:srgbClr val="FFFFFF"/>
                </a:solidFill>
                <a:latin typeface="David"/>
              </a:rPr>
              <a:t>System Architecture — הפייפליין הניסיוני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1067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905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2C2C2A"/>
                </a:solidFill>
                <a:latin typeface="Arial"/>
              </a:rPr>
              <a:t>NSL-KDD dataset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2C2C2A"/>
                </a:solidFill>
                <a:latin typeface="Arial"/>
              </a:rPr>
              <a:t>Network intrusion 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63883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38203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085041"/>
                </a:solidFill>
                <a:latin typeface="Arial"/>
              </a:rPr>
              <a:t>Train 2 models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085041"/>
                </a:solidFill>
                <a:latin typeface="Arial"/>
              </a:rPr>
              <a:t>Isolation Forest &amp; Autoencoder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081019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55339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905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2C2C2A"/>
                </a:solidFill>
                <a:latin typeface="Arial"/>
              </a:rPr>
              <a:t>Predict on new data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2C2C2A"/>
                </a:solidFill>
                <a:latin typeface="Arial"/>
              </a:rPr>
              <a:t>Each model scores independently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598155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872475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4A1B0C"/>
                </a:solidFill>
                <a:latin typeface="Arial"/>
              </a:rPr>
              <a:t>Existing XAI + RAI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4A1B0C"/>
                </a:solidFill>
                <a:latin typeface="Arial"/>
              </a:rPr>
              <a:t>Explain &amp; evaluate each 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115291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389611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0C4A4A"/>
          </a:solidFill>
          <a:ln w="19050">
            <a:solidFill>
              <a:srgbClr val="0C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Compare &amp; results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Isolation Forest vs Autoencoder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1067" y="13049250"/>
            <a:ext cx="22503866" cy="1051560"/>
          </a:xfrm>
          <a:prstGeom prst="roundRect">
            <a:avLst/>
          </a:prstGeom>
          <a:solidFill>
            <a:srgbClr val="EEF8F8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r" rtl="1"/>
            <a:r>
              <a:rPr sz="2400" b="1">
                <a:solidFill>
                  <a:srgbClr val="0C4A4A"/>
                </a:solidFill>
                <a:latin typeface="David"/>
              </a:rPr>
              <a:t>מחקר עצמאי (offline) — אינו משתמש בפייפליין ה-SOC החי (Kafka / Detector / Orchestrator). מודולי ה-XAI וה-RAI קיימים בקוד המחקר ומיושמים באותו אופן על שני המודלים.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1067" y="14420850"/>
            <a:ext cx="22503866" cy="1280160"/>
          </a:xfrm>
          <a:prstGeom prst="roundRect">
            <a:avLst/>
          </a:prstGeom>
          <a:solidFill>
            <a:srgbClr val="0C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NSL-KDD  →  Train 2 models  →  Predict  →  Existing XAI/RAI modules  →  Compare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1067" y="15975330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400" b="1">
                <a:solidFill>
                  <a:srgbClr val="FFFFFF"/>
                </a:solidFill>
                <a:latin typeface="David"/>
              </a:rPr>
              <a:t>Key Results — ממצאים מרכזיים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321067" y="17072610"/>
          <a:ext cx="2250386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0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0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0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0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0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0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FPR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Fairness Gap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2200" b="1" dirty="0">
                          <a:solidFill>
                            <a:srgbClr val="1A1A1A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solidFill>
                            <a:srgbClr val="1A1A1A"/>
                          </a:solidFill>
                          <a:latin typeface="Arial"/>
                        </a:rPr>
                        <a:t>0.901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solidFill>
                            <a:srgbClr val="1A1A1A"/>
                          </a:solidFill>
                          <a:latin typeface="Arial"/>
                        </a:rPr>
                        <a:t>0.901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solidFill>
                            <a:srgbClr val="1A1A1A"/>
                          </a:solidFill>
                          <a:latin typeface="Arial"/>
                        </a:rPr>
                        <a:t>0.901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solidFill>
                            <a:srgbClr val="1A1A1A"/>
                          </a:solidFill>
                          <a:latin typeface="Arial"/>
                        </a:rPr>
                        <a:t>0.091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A1A1A"/>
                          </a:solidFill>
                          <a:latin typeface="Arial"/>
                        </a:rPr>
                        <a:t>0.476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2200" b="1" dirty="0">
                          <a:solidFill>
                            <a:srgbClr val="1A1A1A"/>
                          </a:solidFill>
                          <a:latin typeface="Arial"/>
                        </a:rPr>
                        <a:t>Autoencoder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A1A1A"/>
                          </a:solidFill>
                          <a:latin typeface="Arial"/>
                        </a:rPr>
                        <a:t>0.907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A1A1A"/>
                          </a:solidFill>
                          <a:latin typeface="Arial"/>
                        </a:rPr>
                        <a:t>0.907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A1A1A"/>
                          </a:solidFill>
                          <a:latin typeface="Arial"/>
                        </a:rPr>
                        <a:t>0.907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A1A1A"/>
                          </a:solidFill>
                          <a:latin typeface="Arial"/>
                        </a:rPr>
                        <a:t>0.086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solidFill>
                            <a:srgbClr val="1A1A1A"/>
                          </a:solidFill>
                          <a:latin typeface="Arial"/>
                        </a:rPr>
                        <a:t>0.072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1" name="Picture 20" descr="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067" y="19084290"/>
            <a:ext cx="10522634" cy="6217920"/>
          </a:xfrm>
          <a:prstGeom prst="rect">
            <a:avLst/>
          </a:prstGeom>
        </p:spPr>
      </p:pic>
      <p:pic>
        <p:nvPicPr>
          <p:cNvPr id="22" name="Picture 21" descr="if_fairness_sub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3741" y="19084290"/>
            <a:ext cx="9087729" cy="6217920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321067" y="25576530"/>
          <a:ext cx="2250386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5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5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5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5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Autoencoder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Governance Outcome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r" rtl="1"/>
                      <a:r>
                        <a:rPr sz="1600">
                          <a:solidFill>
                            <a:srgbClr val="1A1A1A"/>
                          </a:solidFill>
                          <a:latin typeface="David"/>
                        </a:rPr>
                        <a:t>A — הסכמה (שניהם מתריעים)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1A1A1A"/>
                          </a:solidFill>
                          <a:latin typeface="Arial"/>
                        </a:rPr>
                        <a:t>Anomaly — Human approval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Anomaly — Auto-contained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>
                          <a:solidFill>
                            <a:srgbClr val="1A1A1A"/>
                          </a:solidFill>
                          <a:latin typeface="David"/>
                        </a:rPr>
                        <a:t>AE מותר, IF חסום (הוגנות)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r" rtl="1"/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B — IF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בלבד</a:t>
                      </a:r>
                      <a:endParaRPr sz="16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1A1A1A"/>
                          </a:solidFill>
                          <a:latin typeface="Arial"/>
                        </a:rPr>
                        <a:t>Anomaly — Human 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Normal — no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אי-הסכמה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: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נדרש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בירור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אנושי</a:t>
                      </a:r>
                      <a:endParaRPr sz="16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r" rtl="1"/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C — AE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בלבד</a:t>
                      </a:r>
                      <a:endParaRPr sz="16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1A1A1A"/>
                          </a:solidFill>
                          <a:latin typeface="Arial"/>
                        </a:rPr>
                        <a:t>Normal — no action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1A1A1A"/>
                          </a:solidFill>
                          <a:latin typeface="Arial"/>
                        </a:rPr>
                        <a:t>Anomaly — Auto-contained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AE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מזהה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הסלמת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הרשאות</a:t>
                      </a:r>
                      <a:endParaRPr sz="16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r" rtl="1"/>
                      <a:r>
                        <a:rPr sz="1600">
                          <a:solidFill>
                            <a:srgbClr val="1A1A1A"/>
                          </a:solidFill>
                          <a:latin typeface="David"/>
                        </a:rPr>
                        <a:t>D — הסכמה (שניהם נורמלי)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אין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פעולה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 —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קונצנזוס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1600" dirty="0" err="1">
                          <a:solidFill>
                            <a:srgbClr val="1A1A1A"/>
                          </a:solidFill>
                          <a:latin typeface="David"/>
                        </a:rPr>
                        <a:t>תקינות</a:t>
                      </a:r>
                      <a:endParaRPr sz="16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1321067" y="27249882"/>
            <a:ext cx="22503866" cy="82296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200" b="1">
                <a:solidFill>
                  <a:srgbClr val="FFFFFF"/>
                </a:solidFill>
                <a:latin typeface="David"/>
              </a:rPr>
              <a:t>Conclusions — מסקנות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067" y="28210002"/>
            <a:ext cx="22503866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7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שני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המודלים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השיגו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ביצועי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סיווג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כמעט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זהים</a:t>
            </a:r>
            <a:r>
              <a:rPr sz="2700" dirty="0">
                <a:solidFill>
                  <a:srgbClr val="1A1A1A"/>
                </a:solidFill>
                <a:latin typeface="David"/>
              </a:rPr>
              <a:t> (F1 ≈ 0.90),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אך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פער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ההוגנות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ביניהם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שונה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פי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כ-6.6 — 47.6% ב-Isolation Forest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מול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7.2% ב-Autoencoder —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ולכן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בחירת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המודל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קובעת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בפועל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מסלול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הממשל</a:t>
            </a:r>
            <a:r>
              <a:rPr sz="2700" dirty="0">
                <a:solidFill>
                  <a:srgbClr val="1A1A1A"/>
                </a:solidFill>
                <a:latin typeface="David"/>
              </a:rPr>
              <a:t>: Autoencoder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זכאי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להכלה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אוטומטית</a:t>
            </a:r>
            <a:r>
              <a:rPr sz="2700" dirty="0">
                <a:solidFill>
                  <a:srgbClr val="1A1A1A"/>
                </a:solidFill>
                <a:latin typeface="David"/>
              </a:rPr>
              <a:t>,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ואילו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כל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התראת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Isolation Forest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נחסמת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ודורשת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אישור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אנושי</a:t>
            </a:r>
            <a:r>
              <a:rPr sz="2700" dirty="0">
                <a:solidFill>
                  <a:srgbClr val="1A1A1A"/>
                </a:solidFill>
                <a:latin typeface="David"/>
              </a:rPr>
              <a:t>.</a:t>
            </a:r>
          </a:p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7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שרשרת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NSL-KDD →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אימון</a:t>
            </a:r>
            <a:r>
              <a:rPr sz="2700" dirty="0">
                <a:solidFill>
                  <a:srgbClr val="1A1A1A"/>
                </a:solidFill>
                <a:latin typeface="David"/>
              </a:rPr>
              <a:t> →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חיזוי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→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מודולי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XAI/RAI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קיימים</a:t>
            </a:r>
            <a:r>
              <a:rPr sz="2700" dirty="0">
                <a:solidFill>
                  <a:srgbClr val="1A1A1A"/>
                </a:solidFill>
                <a:latin typeface="David"/>
              </a:rPr>
              <a:t> →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השוואה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מומשה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במלואה</a:t>
            </a:r>
            <a:r>
              <a:rPr sz="2700" dirty="0">
                <a:solidFill>
                  <a:srgbClr val="1A1A1A"/>
                </a:solidFill>
                <a:latin typeface="David"/>
              </a:rPr>
              <a:t>,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כולל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cross-model signal ו-SHAP ל-Isolation Forest (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הרחבה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לא-חובה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שמומשה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בפועל</a:t>
            </a:r>
            <a:r>
              <a:rPr sz="2700" dirty="0">
                <a:solidFill>
                  <a:srgbClr val="1A1A1A"/>
                </a:solidFill>
                <a:latin typeface="David"/>
              </a:rPr>
              <a:t>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1067" y="30633162"/>
            <a:ext cx="22503866" cy="82296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200" b="1" dirty="0">
                <a:solidFill>
                  <a:srgbClr val="FFFFFF"/>
                </a:solidFill>
                <a:latin typeface="David"/>
              </a:rPr>
              <a:t>Discussions — </a:t>
            </a:r>
            <a:r>
              <a:rPr sz="5200" b="1" dirty="0" err="1">
                <a:solidFill>
                  <a:srgbClr val="FFFFFF"/>
                </a:solidFill>
                <a:latin typeface="David"/>
              </a:rPr>
              <a:t>דיון</a:t>
            </a:r>
            <a:r>
              <a:rPr sz="5200" b="1" dirty="0">
                <a:solidFill>
                  <a:srgbClr val="FFFFFF"/>
                </a:solidFill>
                <a:latin typeface="David"/>
              </a:rPr>
              <a:t> </a:t>
            </a:r>
            <a:r>
              <a:rPr sz="5200" b="1" dirty="0" err="1">
                <a:solidFill>
                  <a:srgbClr val="FFFFFF"/>
                </a:solidFill>
                <a:latin typeface="David"/>
              </a:rPr>
              <a:t>והמשך</a:t>
            </a:r>
            <a:endParaRPr sz="5200" b="1" dirty="0">
              <a:solidFill>
                <a:srgbClr val="FFFFFF"/>
              </a:solidFill>
              <a:latin typeface="Davi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1067" y="31593282"/>
            <a:ext cx="22503866" cy="3421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המשך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פיתוח</a:t>
            </a:r>
            <a:r>
              <a:rPr sz="2800" dirty="0">
                <a:solidFill>
                  <a:srgbClr val="1A1A1A"/>
                </a:solidFill>
                <a:latin typeface="David"/>
              </a:rPr>
              <a:t>: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חיווט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robustness_report</a:t>
            </a:r>
            <a:r>
              <a:rPr sz="2800" dirty="0">
                <a:solidFill>
                  <a:srgbClr val="1A1A1A"/>
                </a:solidFill>
                <a:latin typeface="David"/>
              </a:rPr>
              <a:t> ו-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transparency_report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לתוך</a:t>
            </a:r>
            <a:r>
              <a:rPr sz="2800" dirty="0">
                <a:solidFill>
                  <a:srgbClr val="1A1A1A"/>
                </a:solidFill>
                <a:latin typeface="David"/>
              </a:rPr>
              <a:t> ה-Payload,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והרחבה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למערך</a:t>
            </a:r>
            <a:r>
              <a:rPr sz="2800" dirty="0">
                <a:solidFill>
                  <a:srgbClr val="1A1A1A"/>
                </a:solidFill>
                <a:latin typeface="David"/>
              </a:rPr>
              <a:t> Credit Card Fraud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לבדיקת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עקביות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הממצא</a:t>
            </a:r>
            <a:r>
              <a:rPr sz="2800" dirty="0">
                <a:solidFill>
                  <a:srgbClr val="1A1A1A"/>
                </a:solidFill>
                <a:latin typeface="David"/>
              </a:rPr>
              <a:t>.</a:t>
            </a:r>
          </a:p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הסתייגות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מתודולוגית</a:t>
            </a:r>
            <a:r>
              <a:rPr sz="2800" dirty="0">
                <a:solidFill>
                  <a:srgbClr val="1A1A1A"/>
                </a:solidFill>
                <a:latin typeface="David"/>
              </a:rPr>
              <a:t>: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protocol_type</a:t>
            </a:r>
            <a:r>
              <a:rPr sz="2800" dirty="0">
                <a:solidFill>
                  <a:srgbClr val="1A1A1A"/>
                </a:solidFill>
                <a:latin typeface="David"/>
              </a:rPr>
              <a:t> הוא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תכונת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proxy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ולא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תכונה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דמוגרפית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—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הבדיקה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היא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פער-ביצועים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תפעולי</a:t>
            </a:r>
            <a:r>
              <a:rPr sz="2800" dirty="0">
                <a:solidFill>
                  <a:srgbClr val="1A1A1A"/>
                </a:solidFill>
                <a:latin typeface="David"/>
              </a:rPr>
              <a:t>,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ביקורת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הוגנות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משפטית</a:t>
            </a:r>
            <a:r>
              <a:rPr sz="2800" dirty="0">
                <a:solidFill>
                  <a:srgbClr val="1A1A1A"/>
                </a:solidFill>
                <a:latin typeface="David"/>
              </a:rPr>
              <a:t>.</a:t>
            </a:r>
          </a:p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קוד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מקור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ותיעוד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מלא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זמינים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במאגר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הפרויקט</a:t>
            </a:r>
            <a:r>
              <a:rPr sz="2800" dirty="0">
                <a:solidFill>
                  <a:srgbClr val="1A1A1A"/>
                </a:solidFill>
                <a:latin typeface="David"/>
              </a:rPr>
              <a:t> (research/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xai_rai_comparison</a:t>
            </a:r>
            <a:r>
              <a:rPr sz="2800" dirty="0">
                <a:solidFill>
                  <a:srgbClr val="1A1A1A"/>
                </a:solidFill>
                <a:latin typeface="David"/>
              </a:rPr>
              <a:t>/).</a:t>
            </a:r>
          </a:p>
        </p:txBody>
      </p:sp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4193</TotalTime>
  <Words>467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David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Lotem Kimchi</cp:lastModifiedBy>
  <cp:revision>53</cp:revision>
  <dcterms:created xsi:type="dcterms:W3CDTF">2019-01-27T10:54:29Z</dcterms:created>
  <dcterms:modified xsi:type="dcterms:W3CDTF">2026-09-14T14:18:34Z</dcterms:modified>
</cp:coreProperties>
</file>